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image" Target="../media/image-5-11.png"/><Relationship Id="rId12" Type="http://schemas.openxmlformats.org/officeDocument/2006/relationships/image" Target="../media/image-5-12.png"/><Relationship Id="rId13" Type="http://schemas.openxmlformats.org/officeDocument/2006/relationships/image" Target="../media/image-5-13.png"/><Relationship Id="rId14" Type="http://schemas.openxmlformats.org/officeDocument/2006/relationships/image" Target="../media/image-5-14.png"/><Relationship Id="rId15" Type="http://schemas.openxmlformats.org/officeDocument/2006/relationships/image" Target="../media/image-5-15.png"/><Relationship Id="rId16" Type="http://schemas.openxmlformats.org/officeDocument/2006/relationships/image" Target="../media/image-5-16.png"/><Relationship Id="rId17" Type="http://schemas.openxmlformats.org/officeDocument/2006/relationships/image" Target="../media/image-5-17.png"/><Relationship Id="rId18" Type="http://schemas.openxmlformats.org/officeDocument/2006/relationships/image" Target="../media/image-5-18.png"/><Relationship Id="rId19" Type="http://schemas.openxmlformats.org/officeDocument/2006/relationships/image" Target="../media/image-5-19.png"/><Relationship Id="rId20" Type="http://schemas.openxmlformats.org/officeDocument/2006/relationships/image" Target="../media/image-5-20.png"/><Relationship Id="rId21" Type="http://schemas.openxmlformats.org/officeDocument/2006/relationships/image" Target="../media/image-5-21.png"/><Relationship Id="rId22" Type="http://schemas.openxmlformats.org/officeDocument/2006/relationships/image" Target="../media/image-5-22.png"/><Relationship Id="rId23" Type="http://schemas.openxmlformats.org/officeDocument/2006/relationships/image" Target="../media/image-5-23.png"/><Relationship Id="rId24" Type="http://schemas.openxmlformats.org/officeDocument/2006/relationships/image" Target="../media/image-5-24.png"/><Relationship Id="rId25" Type="http://schemas.openxmlformats.org/officeDocument/2006/relationships/slideLayout" Target="../slideLayouts/slideLayout1.xml"/><Relationship Id="rId2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image" Target="../media/image-6-11.png"/><Relationship Id="rId12" Type="http://schemas.openxmlformats.org/officeDocument/2006/relationships/image" Target="../media/image-6-12.png"/><Relationship Id="rId13" Type="http://schemas.openxmlformats.org/officeDocument/2006/relationships/image" Target="../media/image-6-13.png"/><Relationship Id="rId14" Type="http://schemas.openxmlformats.org/officeDocument/2006/relationships/image" Target="../media/image-6-14.png"/><Relationship Id="rId15" Type="http://schemas.openxmlformats.org/officeDocument/2006/relationships/image" Target="../media/image-6-15.png"/><Relationship Id="rId16" Type="http://schemas.openxmlformats.org/officeDocument/2006/relationships/slideLayout" Target="../slideLayouts/slideLayout1.xml"/><Relationship Id="rId1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image" Target="../media/image-7-10.png"/><Relationship Id="rId11" Type="http://schemas.openxmlformats.org/officeDocument/2006/relationships/image" Target="../media/image-7-11.png"/><Relationship Id="rId12" Type="http://schemas.openxmlformats.org/officeDocument/2006/relationships/image" Target="../media/image-7-12.png"/><Relationship Id="rId13" Type="http://schemas.openxmlformats.org/officeDocument/2006/relationships/image" Target="../media/image-7-13.png"/><Relationship Id="rId14" Type="http://schemas.openxmlformats.org/officeDocument/2006/relationships/image" Target="../media/image-7-14.png"/><Relationship Id="rId15" Type="http://schemas.openxmlformats.org/officeDocument/2006/relationships/image" Target="../media/image-7-15.png"/><Relationship Id="rId16" Type="http://schemas.openxmlformats.org/officeDocument/2006/relationships/slideLayout" Target="../slideLayouts/slideLayout1.xml"/><Relationship Id="rId1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image" Target="../media/image-8-10.png"/><Relationship Id="rId11" Type="http://schemas.openxmlformats.org/officeDocument/2006/relationships/image" Target="../media/image-8-11.png"/><Relationship Id="rId12" Type="http://schemas.openxmlformats.org/officeDocument/2006/relationships/image" Target="../media/image-8-12.png"/><Relationship Id="rId13" Type="http://schemas.openxmlformats.org/officeDocument/2006/relationships/slideLayout" Target="../slideLayouts/slideLayout1.xml"/><Relationship Id="rId1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0C2A8"/>
          </a:solidFill>
          <a:ln w="12700">
            <a:solidFill>
              <a:srgbClr val="00C2A8"/>
            </a:solidFill>
            <a:prstDash val="solid"/>
          </a:ln>
        </p:spPr>
      </p:sp>
      <p:sp>
        <p:nvSpPr>
          <p:cNvPr id="3" name="Shape 1"/>
          <p:cNvSpPr/>
          <p:nvPr/>
        </p:nvSpPr>
        <p:spPr>
          <a:xfrm>
            <a:off x="7132320" y="-914400"/>
            <a:ext cx="3200400" cy="3200400"/>
          </a:xfrm>
          <a:prstGeom prst="ellipse">
            <a:avLst/>
          </a:prstGeom>
          <a:solidFill>
            <a:srgbClr val="112240"/>
          </a:solidFill>
          <a:ln w="12700">
            <a:solidFill>
              <a:srgbClr val="1A3A5C"/>
            </a:solidFill>
            <a:prstDash val="solid"/>
          </a:ln>
        </p:spPr>
      </p:sp>
      <p:sp>
        <p:nvSpPr>
          <p:cNvPr id="4" name="Shape 2"/>
          <p:cNvSpPr/>
          <p:nvPr/>
        </p:nvSpPr>
        <p:spPr>
          <a:xfrm>
            <a:off x="7589520" y="-457200"/>
            <a:ext cx="2286000" cy="2286000"/>
          </a:xfrm>
          <a:prstGeom prst="ellipse">
            <a:avLst/>
          </a:prstGeom>
          <a:solidFill>
            <a:srgbClr val="1A3A5C"/>
          </a:solidFill>
          <a:ln w="12700">
            <a:solidFill>
              <a:srgbClr val="00C2A8"/>
            </a:solidFill>
            <a:prstDash val="solid"/>
          </a:ln>
        </p:spPr>
      </p:sp>
      <p:pic>
        <p:nvPicPr>
          <p:cNvPr id="5" name="Image 0" descr="preencoded.png">    </p:cNvPr>
          <p:cNvPicPr>
            <a:picLocks noChangeAspect="1"/>
          </p:cNvPicPr>
          <p:nvPr/>
        </p:nvPicPr>
        <p:blipFill>
          <a:blip r:embed="rId1"/>
          <a:stretch>
            <a:fillRect/>
          </a:stretch>
        </p:blipFill>
        <p:spPr>
          <a:xfrm>
            <a:off x="7498080" y="548640"/>
            <a:ext cx="1097280" cy="1097280"/>
          </a:xfrm>
          <a:prstGeom prst="rect">
            <a:avLst/>
          </a:prstGeom>
        </p:spPr>
      </p:pic>
      <p:sp>
        <p:nvSpPr>
          <p:cNvPr id="6" name="Shape 3"/>
          <p:cNvSpPr/>
          <p:nvPr/>
        </p:nvSpPr>
        <p:spPr>
          <a:xfrm>
            <a:off x="457200" y="457200"/>
            <a:ext cx="2377440" cy="320040"/>
          </a:xfrm>
          <a:prstGeom prst="rect">
            <a:avLst/>
          </a:prstGeom>
          <a:solidFill>
            <a:srgbClr val="00C2A8"/>
          </a:solidFill>
          <a:ln w="12700">
            <a:solidFill>
              <a:srgbClr val="00C2A8"/>
            </a:solidFill>
            <a:prstDash val="solid"/>
          </a:ln>
        </p:spPr>
      </p:sp>
      <p:sp>
        <p:nvSpPr>
          <p:cNvPr id="7" name="Text 4"/>
          <p:cNvSpPr/>
          <p:nvPr/>
        </p:nvSpPr>
        <p:spPr>
          <a:xfrm>
            <a:off x="457200" y="457200"/>
            <a:ext cx="2377440" cy="320040"/>
          </a:xfrm>
          <a:prstGeom prst="rect">
            <a:avLst/>
          </a:prstGeom>
          <a:noFill/>
          <a:ln/>
        </p:spPr>
        <p:txBody>
          <a:bodyPr wrap="square" lIns="0" tIns="0" rIns="0" bIns="0" rtlCol="0" anchor="ctr"/>
          <a:lstStyle/>
          <a:p>
            <a:pPr algn="ctr" indent="0" marL="0">
              <a:buNone/>
            </a:pPr>
            <a:r>
              <a:rPr lang="en-US" sz="800" b="1" dirty="0">
                <a:solidFill>
                  <a:srgbClr val="0A1628"/>
                </a:solidFill>
              </a:rPr>
              <a:t>CM3020 ARTIFICIAL INTELLIGENCE</a:t>
            </a:r>
            <a:endParaRPr lang="en-US" sz="800" dirty="0"/>
          </a:p>
        </p:txBody>
      </p:sp>
      <p:sp>
        <p:nvSpPr>
          <p:cNvPr id="8" name="Text 5"/>
          <p:cNvSpPr/>
          <p:nvPr/>
        </p:nvSpPr>
        <p:spPr>
          <a:xfrm>
            <a:off x="457200" y="1005840"/>
            <a:ext cx="6858000" cy="868680"/>
          </a:xfrm>
          <a:prstGeom prst="rect">
            <a:avLst/>
          </a:prstGeom>
          <a:noFill/>
          <a:ln/>
        </p:spPr>
        <p:txBody>
          <a:bodyPr wrap="square" rtlCol="0" anchor="ctr"/>
          <a:lstStyle/>
          <a:p>
            <a:pPr indent="0" marL="0">
              <a:buNone/>
            </a:pPr>
            <a:r>
              <a:rPr lang="en-US" sz="5400" b="1" dirty="0">
                <a:solidFill>
                  <a:srgbClr val="FFFFFF"/>
                </a:solidFill>
                <a:latin typeface="Calibri" pitchFamily="34" charset="0"/>
                <a:ea typeface="Calibri" pitchFamily="34" charset="-122"/>
                <a:cs typeface="Calibri" pitchFamily="34" charset="-120"/>
              </a:rPr>
              <a:t>AI Financial</a:t>
            </a:r>
            <a:endParaRPr lang="en-US" sz="5400" dirty="0"/>
          </a:p>
        </p:txBody>
      </p:sp>
      <p:sp>
        <p:nvSpPr>
          <p:cNvPr id="9" name="Text 6"/>
          <p:cNvSpPr/>
          <p:nvPr/>
        </p:nvSpPr>
        <p:spPr>
          <a:xfrm>
            <a:off x="457200" y="1783080"/>
            <a:ext cx="6858000" cy="868680"/>
          </a:xfrm>
          <a:prstGeom prst="rect">
            <a:avLst/>
          </a:prstGeom>
          <a:noFill/>
          <a:ln/>
        </p:spPr>
        <p:txBody>
          <a:bodyPr wrap="square" rtlCol="0" anchor="ctr"/>
          <a:lstStyle/>
          <a:p>
            <a:pPr indent="0" marL="0">
              <a:buNone/>
            </a:pPr>
            <a:r>
              <a:rPr lang="en-US" sz="5400" b="1" dirty="0">
                <a:solidFill>
                  <a:srgbClr val="00C2A8"/>
                </a:solidFill>
                <a:latin typeface="Calibri" pitchFamily="34" charset="0"/>
                <a:ea typeface="Calibri" pitchFamily="34" charset="-122"/>
                <a:cs typeface="Calibri" pitchFamily="34" charset="-120"/>
              </a:rPr>
              <a:t>Advisor Bot</a:t>
            </a:r>
            <a:endParaRPr lang="en-US" sz="5400" dirty="0"/>
          </a:p>
        </p:txBody>
      </p:sp>
      <p:sp>
        <p:nvSpPr>
          <p:cNvPr id="10" name="Text 7"/>
          <p:cNvSpPr/>
          <p:nvPr/>
        </p:nvSpPr>
        <p:spPr>
          <a:xfrm>
            <a:off x="457200" y="2788920"/>
            <a:ext cx="6400800" cy="731520"/>
          </a:xfrm>
          <a:prstGeom prst="rect">
            <a:avLst/>
          </a:prstGeom>
          <a:noFill/>
          <a:ln/>
        </p:spPr>
        <p:txBody>
          <a:bodyPr wrap="square" rtlCol="0" anchor="ctr"/>
          <a:lstStyle/>
          <a:p>
            <a:pPr indent="0" marL="0">
              <a:buNone/>
            </a:pPr>
            <a:r>
              <a:rPr lang="en-US" sz="1600" dirty="0">
                <a:solidFill>
                  <a:srgbClr val="8FAAC3"/>
                </a:solidFill>
                <a:latin typeface="Calibri" pitchFamily="34" charset="0"/>
                <a:ea typeface="Calibri" pitchFamily="34" charset="-122"/>
                <a:cs typeface="Calibri" pitchFamily="34" charset="-120"/>
              </a:rPr>
              <a:t>Data-Driven Investment Recommendations</a:t>
            </a:r>
            <a:endParaRPr lang="en-US" sz="1600" dirty="0"/>
          </a:p>
          <a:p>
            <a:pPr indent="0" marL="0">
              <a:buNone/>
            </a:pPr>
            <a:r>
              <a:rPr lang="en-US" sz="1600" dirty="0">
                <a:solidFill>
                  <a:srgbClr val="8FAAC3"/>
                </a:solidFill>
                <a:latin typeface="Calibri" pitchFamily="34" charset="0"/>
                <a:ea typeface="Calibri" pitchFamily="34" charset="-122"/>
                <a:cs typeface="Calibri" pitchFamily="34" charset="-120"/>
              </a:rPr>
              <a:t>for Non-Technical Users</a:t>
            </a:r>
            <a:endParaRPr lang="en-US" sz="1600" dirty="0"/>
          </a:p>
        </p:txBody>
      </p:sp>
      <p:sp>
        <p:nvSpPr>
          <p:cNvPr id="11" name="Shape 8"/>
          <p:cNvSpPr/>
          <p:nvPr/>
        </p:nvSpPr>
        <p:spPr>
          <a:xfrm>
            <a:off x="457200" y="3611880"/>
            <a:ext cx="4572000" cy="27432"/>
          </a:xfrm>
          <a:prstGeom prst="rect">
            <a:avLst/>
          </a:prstGeom>
          <a:solidFill>
            <a:srgbClr val="1A3A5C"/>
          </a:solidFill>
          <a:ln w="12700">
            <a:solidFill>
              <a:srgbClr val="1A3A5C"/>
            </a:solidFill>
            <a:prstDash val="solid"/>
          </a:ln>
        </p:spPr>
      </p:sp>
      <p:sp>
        <p:nvSpPr>
          <p:cNvPr id="12" name="Text 9"/>
          <p:cNvSpPr/>
          <p:nvPr/>
        </p:nvSpPr>
        <p:spPr>
          <a:xfrm>
            <a:off x="457200" y="3749040"/>
            <a:ext cx="6400800" cy="320040"/>
          </a:xfrm>
          <a:prstGeom prst="rect">
            <a:avLst/>
          </a:prstGeom>
          <a:noFill/>
          <a:ln/>
        </p:spPr>
        <p:txBody>
          <a:bodyPr wrap="square" rtlCol="0" anchor="ctr"/>
          <a:lstStyle/>
          <a:p>
            <a:pPr indent="0" marL="0">
              <a:buNone/>
            </a:pPr>
            <a:r>
              <a:rPr lang="en-US" sz="1200" dirty="0">
                <a:solidFill>
                  <a:srgbClr val="8FAAC3"/>
                </a:solidFill>
              </a:rPr>
              <a:t>CM3070 Final Project  </a:t>
            </a:r>
            <a:pPr indent="0" marL="0">
              <a:buNone/>
            </a:pPr>
            <a:r>
              <a:rPr lang="en-US" sz="1200" b="1" dirty="0">
                <a:solidFill>
                  <a:srgbClr val="00C2A8"/>
                </a:solidFill>
              </a:rPr>
              <a:t>  Project Idea 2</a:t>
            </a:r>
            <a:endParaRPr lang="en-US" sz="1200" dirty="0"/>
          </a:p>
        </p:txBody>
      </p:sp>
      <p:sp>
        <p:nvSpPr>
          <p:cNvPr id="13" name="Text 10"/>
          <p:cNvSpPr/>
          <p:nvPr/>
        </p:nvSpPr>
        <p:spPr>
          <a:xfrm>
            <a:off x="457200" y="4114800"/>
            <a:ext cx="6400800" cy="320040"/>
          </a:xfrm>
          <a:prstGeom prst="rect">
            <a:avLst/>
          </a:prstGeom>
          <a:noFill/>
          <a:ln/>
        </p:spPr>
        <p:txBody>
          <a:bodyPr wrap="square" rtlCol="0" anchor="ctr"/>
          <a:lstStyle/>
          <a:p>
            <a:pPr indent="0" marL="0">
              <a:buNone/>
            </a:pPr>
            <a:r>
              <a:rPr lang="en-US" sz="1100" dirty="0">
                <a:solidFill>
                  <a:srgbClr val="3A5A7A"/>
                </a:solidFill>
              </a:rPr>
              <a:t>University of London — BSc Computer Science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2137"/>
          </a:solidFill>
          <a:ln w="12700">
            <a:solidFill>
              <a:srgbClr val="0D2137"/>
            </a:solidFill>
            <a:prstDash val="solid"/>
          </a:ln>
        </p:spPr>
      </p:sp>
      <p:sp>
        <p:nvSpPr>
          <p:cNvPr id="3" name="Shape 1"/>
          <p:cNvSpPr/>
          <p:nvPr/>
        </p:nvSpPr>
        <p:spPr>
          <a:xfrm>
            <a:off x="0" y="868680"/>
            <a:ext cx="9144000" cy="45720"/>
          </a:xfrm>
          <a:prstGeom prst="rect">
            <a:avLst/>
          </a:prstGeom>
          <a:solidFill>
            <a:srgbClr val="00C2A8"/>
          </a:solidFill>
          <a:ln w="12700">
            <a:solidFill>
              <a:srgbClr val="00C2A8"/>
            </a:solidFill>
            <a:prstDash val="solid"/>
          </a:ln>
        </p:spPr>
      </p:sp>
      <p:sp>
        <p:nvSpPr>
          <p:cNvPr id="4" name="Text 2"/>
          <p:cNvSpPr/>
          <p:nvPr/>
        </p:nvSpPr>
        <p:spPr>
          <a:xfrm>
            <a:off x="457200" y="0"/>
            <a:ext cx="8229600" cy="91440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PROJECT AIM</a:t>
            </a:r>
            <a:endParaRPr lang="en-US" sz="2800" dirty="0"/>
          </a:p>
        </p:txBody>
      </p:sp>
      <p:sp>
        <p:nvSpPr>
          <p:cNvPr id="5" name="Shape 3"/>
          <p:cNvSpPr/>
          <p:nvPr/>
        </p:nvSpPr>
        <p:spPr>
          <a:xfrm>
            <a:off x="365760" y="1097280"/>
            <a:ext cx="8412480" cy="1188720"/>
          </a:xfrm>
          <a:prstGeom prst="rect">
            <a:avLst/>
          </a:prstGeom>
          <a:solidFill>
            <a:srgbClr val="112240"/>
          </a:solidFill>
          <a:ln w="19050">
            <a:solidFill>
              <a:srgbClr val="00C2A8"/>
            </a:solidFill>
            <a:prstDash val="solid"/>
          </a:ln>
        </p:spPr>
      </p:sp>
      <p:pic>
        <p:nvPicPr>
          <p:cNvPr id="6" name="Image 0" descr="preencoded.png">    </p:cNvPr>
          <p:cNvPicPr>
            <a:picLocks noChangeAspect="1"/>
          </p:cNvPicPr>
          <p:nvPr/>
        </p:nvPicPr>
        <p:blipFill>
          <a:blip r:embed="rId1"/>
          <a:stretch>
            <a:fillRect/>
          </a:stretch>
        </p:blipFill>
        <p:spPr>
          <a:xfrm>
            <a:off x="640080" y="1234440"/>
            <a:ext cx="640080" cy="640080"/>
          </a:xfrm>
          <a:prstGeom prst="rect">
            <a:avLst/>
          </a:prstGeom>
        </p:spPr>
      </p:pic>
      <p:sp>
        <p:nvSpPr>
          <p:cNvPr id="7" name="Text 4"/>
          <p:cNvSpPr/>
          <p:nvPr/>
        </p:nvSpPr>
        <p:spPr>
          <a:xfrm>
            <a:off x="1463040" y="1143000"/>
            <a:ext cx="7132320" cy="109728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Build and train an AI with financial expertise to advise individual investors. The bot analyses market data using machine learning to produce dynamic investment suggestions, presented via an easily navigable website with plain English explanations so that non-technical users can view, understand, and evaluate the advice.</a:t>
            </a:r>
            <a:endParaRPr lang="en-US" sz="1300" dirty="0"/>
          </a:p>
        </p:txBody>
      </p:sp>
      <p:sp>
        <p:nvSpPr>
          <p:cNvPr id="8" name="Shape 5"/>
          <p:cNvSpPr/>
          <p:nvPr/>
        </p:nvSpPr>
        <p:spPr>
          <a:xfrm>
            <a:off x="365760" y="2514600"/>
            <a:ext cx="2651760" cy="2286000"/>
          </a:xfrm>
          <a:prstGeom prst="rect">
            <a:avLst/>
          </a:prstGeom>
          <a:solidFill>
            <a:srgbClr val="162B4A"/>
          </a:solidFill>
          <a:ln w="12700">
            <a:solidFill>
              <a:srgbClr val="1A3A5C"/>
            </a:solidFill>
            <a:prstDash val="solid"/>
          </a:ln>
        </p:spPr>
      </p:sp>
      <p:sp>
        <p:nvSpPr>
          <p:cNvPr id="9" name="Shape 6"/>
          <p:cNvSpPr/>
          <p:nvPr/>
        </p:nvSpPr>
        <p:spPr>
          <a:xfrm>
            <a:off x="365760" y="2514600"/>
            <a:ext cx="2651760" cy="54864"/>
          </a:xfrm>
          <a:prstGeom prst="rect">
            <a:avLst/>
          </a:prstGeom>
          <a:solidFill>
            <a:srgbClr val="00C2A8"/>
          </a:solidFill>
          <a:ln w="12700">
            <a:solidFill>
              <a:srgbClr val="00C2A8"/>
            </a:solidFill>
            <a:prstDash val="solid"/>
          </a:ln>
        </p:spPr>
      </p:sp>
      <p:pic>
        <p:nvPicPr>
          <p:cNvPr id="10" name="Image 1" descr="preencoded.png">    </p:cNvPr>
          <p:cNvPicPr>
            <a:picLocks noChangeAspect="1"/>
          </p:cNvPicPr>
          <p:nvPr/>
        </p:nvPicPr>
        <p:blipFill>
          <a:blip r:embed="rId2"/>
          <a:stretch>
            <a:fillRect/>
          </a:stretch>
        </p:blipFill>
        <p:spPr>
          <a:xfrm>
            <a:off x="1371600" y="2697480"/>
            <a:ext cx="594360" cy="594360"/>
          </a:xfrm>
          <a:prstGeom prst="rect">
            <a:avLst/>
          </a:prstGeom>
        </p:spPr>
      </p:pic>
      <p:sp>
        <p:nvSpPr>
          <p:cNvPr id="11" name="Text 7"/>
          <p:cNvSpPr/>
          <p:nvPr/>
        </p:nvSpPr>
        <p:spPr>
          <a:xfrm>
            <a:off x="457200" y="3383280"/>
            <a:ext cx="2468880" cy="365760"/>
          </a:xfrm>
          <a:prstGeom prst="rect">
            <a:avLst/>
          </a:prstGeom>
          <a:noFill/>
          <a:ln/>
        </p:spPr>
        <p:txBody>
          <a:bodyPr wrap="square" rtlCol="0" anchor="ctr"/>
          <a:lstStyle/>
          <a:p>
            <a:pPr algn="ctr" indent="0" marL="0">
              <a:buNone/>
            </a:pPr>
            <a:r>
              <a:rPr lang="en-US" sz="1400" b="1" dirty="0">
                <a:solidFill>
                  <a:srgbClr val="00C2A8"/>
                </a:solidFill>
                <a:latin typeface="Calibri" pitchFamily="34" charset="0"/>
                <a:ea typeface="Calibri" pitchFamily="34" charset="-122"/>
                <a:cs typeface="Calibri" pitchFamily="34" charset="-120"/>
              </a:rPr>
              <a:t>Machine Learning</a:t>
            </a:r>
            <a:endParaRPr lang="en-US" sz="1400" dirty="0"/>
          </a:p>
        </p:txBody>
      </p:sp>
      <p:sp>
        <p:nvSpPr>
          <p:cNvPr id="12" name="Text 8"/>
          <p:cNvSpPr/>
          <p:nvPr/>
        </p:nvSpPr>
        <p:spPr>
          <a:xfrm>
            <a:off x="457200" y="3749040"/>
            <a:ext cx="2468880" cy="822960"/>
          </a:xfrm>
          <a:prstGeom prst="rect">
            <a:avLst/>
          </a:prstGeom>
          <a:noFill/>
          <a:ln/>
        </p:spPr>
        <p:txBody>
          <a:bodyPr wrap="square" rtlCol="0" anchor="ctr"/>
          <a:lstStyle/>
          <a:p>
            <a:pPr algn="ctr" indent="0" marL="0">
              <a:buNone/>
            </a:pPr>
            <a:r>
              <a:rPr lang="en-US" sz="1200" dirty="0">
                <a:solidFill>
                  <a:srgbClr val="8FAAC3"/>
                </a:solidFill>
                <a:latin typeface="Calibri" pitchFamily="34" charset="0"/>
                <a:ea typeface="Calibri" pitchFamily="34" charset="-122"/>
                <a:cs typeface="Calibri" pitchFamily="34" charset="-120"/>
              </a:rPr>
              <a:t>Train models on</a:t>
            </a:r>
            <a:endParaRPr lang="en-US" sz="1200" dirty="0"/>
          </a:p>
          <a:p>
            <a:pPr algn="ctr" indent="0" marL="0">
              <a:buNone/>
            </a:pPr>
            <a:r>
              <a:rPr lang="en-US" sz="1200" dirty="0">
                <a:solidFill>
                  <a:srgbClr val="8FAAC3"/>
                </a:solidFill>
                <a:latin typeface="Calibri" pitchFamily="34" charset="0"/>
                <a:ea typeface="Calibri" pitchFamily="34" charset="-122"/>
                <a:cs typeface="Calibri" pitchFamily="34" charset="-120"/>
              </a:rPr>
              <a:t>market data to</a:t>
            </a:r>
            <a:endParaRPr lang="en-US" sz="1200" dirty="0"/>
          </a:p>
          <a:p>
            <a:pPr algn="ctr" indent="0" marL="0">
              <a:buNone/>
            </a:pPr>
            <a:r>
              <a:rPr lang="en-US" sz="1200" dirty="0">
                <a:solidFill>
                  <a:srgbClr val="8FAAC3"/>
                </a:solidFill>
                <a:latin typeface="Calibri" pitchFamily="34" charset="0"/>
                <a:ea typeface="Calibri" pitchFamily="34" charset="-122"/>
                <a:cs typeface="Calibri" pitchFamily="34" charset="-120"/>
              </a:rPr>
              <a:t>predict movements</a:t>
            </a:r>
            <a:endParaRPr lang="en-US" sz="1200" dirty="0"/>
          </a:p>
        </p:txBody>
      </p:sp>
      <p:sp>
        <p:nvSpPr>
          <p:cNvPr id="13" name="Shape 9"/>
          <p:cNvSpPr/>
          <p:nvPr/>
        </p:nvSpPr>
        <p:spPr>
          <a:xfrm>
            <a:off x="3200400" y="2514600"/>
            <a:ext cx="2651760" cy="2286000"/>
          </a:xfrm>
          <a:prstGeom prst="rect">
            <a:avLst/>
          </a:prstGeom>
          <a:solidFill>
            <a:srgbClr val="162B4A"/>
          </a:solidFill>
          <a:ln w="12700">
            <a:solidFill>
              <a:srgbClr val="1A3A5C"/>
            </a:solidFill>
            <a:prstDash val="solid"/>
          </a:ln>
        </p:spPr>
      </p:sp>
      <p:sp>
        <p:nvSpPr>
          <p:cNvPr id="14" name="Shape 10"/>
          <p:cNvSpPr/>
          <p:nvPr/>
        </p:nvSpPr>
        <p:spPr>
          <a:xfrm>
            <a:off x="3200400" y="2514600"/>
            <a:ext cx="2651760" cy="54864"/>
          </a:xfrm>
          <a:prstGeom prst="rect">
            <a:avLst/>
          </a:prstGeom>
          <a:solidFill>
            <a:srgbClr val="00C2A8"/>
          </a:solidFill>
          <a:ln w="12700">
            <a:solidFill>
              <a:srgbClr val="00C2A8"/>
            </a:solidFill>
            <a:prstDash val="solid"/>
          </a:ln>
        </p:spPr>
      </p:sp>
      <p:pic>
        <p:nvPicPr>
          <p:cNvPr id="15" name="Image 2" descr="preencoded.png">    </p:cNvPr>
          <p:cNvPicPr>
            <a:picLocks noChangeAspect="1"/>
          </p:cNvPicPr>
          <p:nvPr/>
        </p:nvPicPr>
        <p:blipFill>
          <a:blip r:embed="rId3"/>
          <a:stretch>
            <a:fillRect/>
          </a:stretch>
        </p:blipFill>
        <p:spPr>
          <a:xfrm>
            <a:off x="4206240" y="2697480"/>
            <a:ext cx="594360" cy="594360"/>
          </a:xfrm>
          <a:prstGeom prst="rect">
            <a:avLst/>
          </a:prstGeom>
        </p:spPr>
      </p:pic>
      <p:sp>
        <p:nvSpPr>
          <p:cNvPr id="16" name="Text 11"/>
          <p:cNvSpPr/>
          <p:nvPr/>
        </p:nvSpPr>
        <p:spPr>
          <a:xfrm>
            <a:off x="3291840" y="3383280"/>
            <a:ext cx="2468880" cy="365760"/>
          </a:xfrm>
          <a:prstGeom prst="rect">
            <a:avLst/>
          </a:prstGeom>
          <a:noFill/>
          <a:ln/>
        </p:spPr>
        <p:txBody>
          <a:bodyPr wrap="square" rtlCol="0" anchor="ctr"/>
          <a:lstStyle/>
          <a:p>
            <a:pPr algn="ctr" indent="0" marL="0">
              <a:buNone/>
            </a:pPr>
            <a:r>
              <a:rPr lang="en-US" sz="1400" b="1" dirty="0">
                <a:solidFill>
                  <a:srgbClr val="00C2A8"/>
                </a:solidFill>
                <a:latin typeface="Calibri" pitchFamily="34" charset="0"/>
                <a:ea typeface="Calibri" pitchFamily="34" charset="-122"/>
                <a:cs typeface="Calibri" pitchFamily="34" charset="-120"/>
              </a:rPr>
              <a:t>Market Analysis</a:t>
            </a:r>
            <a:endParaRPr lang="en-US" sz="1400" dirty="0"/>
          </a:p>
        </p:txBody>
      </p:sp>
      <p:sp>
        <p:nvSpPr>
          <p:cNvPr id="17" name="Text 12"/>
          <p:cNvSpPr/>
          <p:nvPr/>
        </p:nvSpPr>
        <p:spPr>
          <a:xfrm>
            <a:off x="3291840" y="3749040"/>
            <a:ext cx="2468880" cy="822960"/>
          </a:xfrm>
          <a:prstGeom prst="rect">
            <a:avLst/>
          </a:prstGeom>
          <a:noFill/>
          <a:ln/>
        </p:spPr>
        <p:txBody>
          <a:bodyPr wrap="square" rtlCol="0" anchor="ctr"/>
          <a:lstStyle/>
          <a:p>
            <a:pPr algn="ctr" indent="0" marL="0">
              <a:buNone/>
            </a:pPr>
            <a:r>
              <a:rPr lang="en-US" sz="1200" dirty="0">
                <a:solidFill>
                  <a:srgbClr val="8FAAC3"/>
                </a:solidFill>
                <a:latin typeface="Calibri" pitchFamily="34" charset="0"/>
                <a:ea typeface="Calibri" pitchFamily="34" charset="-122"/>
                <a:cs typeface="Calibri" pitchFamily="34" charset="-120"/>
              </a:rPr>
              <a:t>Analyse real-time</a:t>
            </a:r>
            <a:endParaRPr lang="en-US" sz="1200" dirty="0"/>
          </a:p>
          <a:p>
            <a:pPr algn="ctr" indent="0" marL="0">
              <a:buNone/>
            </a:pPr>
            <a:r>
              <a:rPr lang="en-US" sz="1200" dirty="0">
                <a:solidFill>
                  <a:srgbClr val="8FAAC3"/>
                </a:solidFill>
                <a:latin typeface="Calibri" pitchFamily="34" charset="0"/>
                <a:ea typeface="Calibri" pitchFamily="34" charset="-122"/>
                <a:cs typeface="Calibri" pitchFamily="34" charset="-120"/>
              </a:rPr>
              <a:t>and historical stock</a:t>
            </a:r>
            <a:endParaRPr lang="en-US" sz="1200" dirty="0"/>
          </a:p>
          <a:p>
            <a:pPr algn="ctr" indent="0" marL="0">
              <a:buNone/>
            </a:pPr>
            <a:r>
              <a:rPr lang="en-US" sz="1200" dirty="0">
                <a:solidFill>
                  <a:srgbClr val="8FAAC3"/>
                </a:solidFill>
                <a:latin typeface="Calibri" pitchFamily="34" charset="0"/>
                <a:ea typeface="Calibri" pitchFamily="34" charset="-122"/>
                <a:cs typeface="Calibri" pitchFamily="34" charset="-120"/>
              </a:rPr>
              <a:t>price data</a:t>
            </a:r>
            <a:endParaRPr lang="en-US" sz="1200" dirty="0"/>
          </a:p>
        </p:txBody>
      </p:sp>
      <p:sp>
        <p:nvSpPr>
          <p:cNvPr id="18" name="Shape 13"/>
          <p:cNvSpPr/>
          <p:nvPr/>
        </p:nvSpPr>
        <p:spPr>
          <a:xfrm>
            <a:off x="6035040" y="2514600"/>
            <a:ext cx="2651760" cy="2286000"/>
          </a:xfrm>
          <a:prstGeom prst="rect">
            <a:avLst/>
          </a:prstGeom>
          <a:solidFill>
            <a:srgbClr val="162B4A"/>
          </a:solidFill>
          <a:ln w="12700">
            <a:solidFill>
              <a:srgbClr val="1A3A5C"/>
            </a:solidFill>
            <a:prstDash val="solid"/>
          </a:ln>
        </p:spPr>
      </p:sp>
      <p:sp>
        <p:nvSpPr>
          <p:cNvPr id="19" name="Shape 14"/>
          <p:cNvSpPr/>
          <p:nvPr/>
        </p:nvSpPr>
        <p:spPr>
          <a:xfrm>
            <a:off x="6035040" y="2514600"/>
            <a:ext cx="2651760" cy="54864"/>
          </a:xfrm>
          <a:prstGeom prst="rect">
            <a:avLst/>
          </a:prstGeom>
          <a:solidFill>
            <a:srgbClr val="00C2A8"/>
          </a:solidFill>
          <a:ln w="12700">
            <a:solidFill>
              <a:srgbClr val="00C2A8"/>
            </a:solidFill>
            <a:prstDash val="solid"/>
          </a:ln>
        </p:spPr>
      </p:sp>
      <p:pic>
        <p:nvPicPr>
          <p:cNvPr id="20" name="Image 3" descr="preencoded.png">    </p:cNvPr>
          <p:cNvPicPr>
            <a:picLocks noChangeAspect="1"/>
          </p:cNvPicPr>
          <p:nvPr/>
        </p:nvPicPr>
        <p:blipFill>
          <a:blip r:embed="rId4"/>
          <a:stretch>
            <a:fillRect/>
          </a:stretch>
        </p:blipFill>
        <p:spPr>
          <a:xfrm>
            <a:off x="7040880" y="2697480"/>
            <a:ext cx="594360" cy="594360"/>
          </a:xfrm>
          <a:prstGeom prst="rect">
            <a:avLst/>
          </a:prstGeom>
        </p:spPr>
      </p:pic>
      <p:sp>
        <p:nvSpPr>
          <p:cNvPr id="21" name="Text 15"/>
          <p:cNvSpPr/>
          <p:nvPr/>
        </p:nvSpPr>
        <p:spPr>
          <a:xfrm>
            <a:off x="6126480" y="3383280"/>
            <a:ext cx="2468880" cy="365760"/>
          </a:xfrm>
          <a:prstGeom prst="rect">
            <a:avLst/>
          </a:prstGeom>
          <a:noFill/>
          <a:ln/>
        </p:spPr>
        <p:txBody>
          <a:bodyPr wrap="square" rtlCol="0" anchor="ctr"/>
          <a:lstStyle/>
          <a:p>
            <a:pPr algn="ctr" indent="0" marL="0">
              <a:buNone/>
            </a:pPr>
            <a:r>
              <a:rPr lang="en-US" sz="1400" b="1" dirty="0">
                <a:solidFill>
                  <a:srgbClr val="00C2A8"/>
                </a:solidFill>
                <a:latin typeface="Calibri" pitchFamily="34" charset="0"/>
                <a:ea typeface="Calibri" pitchFamily="34" charset="-122"/>
                <a:cs typeface="Calibri" pitchFamily="34" charset="-120"/>
              </a:rPr>
              <a:t>Web Interface</a:t>
            </a:r>
            <a:endParaRPr lang="en-US" sz="1400" dirty="0"/>
          </a:p>
        </p:txBody>
      </p:sp>
      <p:sp>
        <p:nvSpPr>
          <p:cNvPr id="22" name="Text 16"/>
          <p:cNvSpPr/>
          <p:nvPr/>
        </p:nvSpPr>
        <p:spPr>
          <a:xfrm>
            <a:off x="6126480" y="3749040"/>
            <a:ext cx="2468880" cy="822960"/>
          </a:xfrm>
          <a:prstGeom prst="rect">
            <a:avLst/>
          </a:prstGeom>
          <a:noFill/>
          <a:ln/>
        </p:spPr>
        <p:txBody>
          <a:bodyPr wrap="square" rtlCol="0" anchor="ctr"/>
          <a:lstStyle/>
          <a:p>
            <a:pPr algn="ctr" indent="0" marL="0">
              <a:buNone/>
            </a:pPr>
            <a:r>
              <a:rPr lang="en-US" sz="1200" dirty="0">
                <a:solidFill>
                  <a:srgbClr val="8FAAC3"/>
                </a:solidFill>
                <a:latin typeface="Calibri" pitchFamily="34" charset="0"/>
                <a:ea typeface="Calibri" pitchFamily="34" charset="-122"/>
                <a:cs typeface="Calibri" pitchFamily="34" charset="-120"/>
              </a:rPr>
              <a:t>Clean, accessible</a:t>
            </a:r>
            <a:endParaRPr lang="en-US" sz="1200" dirty="0"/>
          </a:p>
          <a:p>
            <a:pPr algn="ctr" indent="0" marL="0">
              <a:buNone/>
            </a:pPr>
            <a:r>
              <a:rPr lang="en-US" sz="1200" dirty="0">
                <a:solidFill>
                  <a:srgbClr val="8FAAC3"/>
                </a:solidFill>
                <a:latin typeface="Calibri" pitchFamily="34" charset="0"/>
                <a:ea typeface="Calibri" pitchFamily="34" charset="-122"/>
                <a:cs typeface="Calibri" pitchFamily="34" charset="-120"/>
              </a:rPr>
              <a:t>frontend for</a:t>
            </a:r>
            <a:endParaRPr lang="en-US" sz="1200" dirty="0"/>
          </a:p>
          <a:p>
            <a:pPr algn="ctr" indent="0" marL="0">
              <a:buNone/>
            </a:pPr>
            <a:r>
              <a:rPr lang="en-US" sz="1200" dirty="0">
                <a:solidFill>
                  <a:srgbClr val="8FAAC3"/>
                </a:solidFill>
                <a:latin typeface="Calibri" pitchFamily="34" charset="0"/>
                <a:ea typeface="Calibri" pitchFamily="34" charset="-122"/>
                <a:cs typeface="Calibri" pitchFamily="34" charset="-120"/>
              </a:rPr>
              <a:t>non-technical users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2137"/>
          </a:solidFill>
          <a:ln w="12700">
            <a:solidFill>
              <a:srgbClr val="0D2137"/>
            </a:solidFill>
            <a:prstDash val="solid"/>
          </a:ln>
        </p:spPr>
      </p:sp>
      <p:sp>
        <p:nvSpPr>
          <p:cNvPr id="3" name="Shape 1"/>
          <p:cNvSpPr/>
          <p:nvPr/>
        </p:nvSpPr>
        <p:spPr>
          <a:xfrm>
            <a:off x="0" y="868680"/>
            <a:ext cx="9144000" cy="45720"/>
          </a:xfrm>
          <a:prstGeom prst="rect">
            <a:avLst/>
          </a:prstGeom>
          <a:solidFill>
            <a:srgbClr val="00C2A8"/>
          </a:solidFill>
          <a:ln w="12700">
            <a:solidFill>
              <a:srgbClr val="00C2A8"/>
            </a:solidFill>
            <a:prstDash val="solid"/>
          </a:ln>
        </p:spPr>
      </p:sp>
      <p:sp>
        <p:nvSpPr>
          <p:cNvPr id="4" name="Text 2"/>
          <p:cNvSpPr/>
          <p:nvPr/>
        </p:nvSpPr>
        <p:spPr>
          <a:xfrm>
            <a:off x="457200" y="0"/>
            <a:ext cx="8229600" cy="91440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MOTIVATION — What's Missing?</a:t>
            </a:r>
            <a:endParaRPr lang="en-US" sz="2600" dirty="0"/>
          </a:p>
        </p:txBody>
      </p:sp>
      <p:sp>
        <p:nvSpPr>
          <p:cNvPr id="5" name="Shape 3"/>
          <p:cNvSpPr/>
          <p:nvPr/>
        </p:nvSpPr>
        <p:spPr>
          <a:xfrm>
            <a:off x="365760" y="1051560"/>
            <a:ext cx="4206240" cy="1737360"/>
          </a:xfrm>
          <a:prstGeom prst="rect">
            <a:avLst/>
          </a:prstGeom>
          <a:solidFill>
            <a:srgbClr val="112240"/>
          </a:solidFill>
          <a:ln w="12700">
            <a:solidFill>
              <a:srgbClr val="1A3A5C"/>
            </a:solidFill>
            <a:prstDash val="solid"/>
          </a:ln>
        </p:spPr>
      </p:sp>
      <p:sp>
        <p:nvSpPr>
          <p:cNvPr id="6" name="Shape 4"/>
          <p:cNvSpPr/>
          <p:nvPr/>
        </p:nvSpPr>
        <p:spPr>
          <a:xfrm>
            <a:off x="365760" y="1051560"/>
            <a:ext cx="73152" cy="1737360"/>
          </a:xfrm>
          <a:prstGeom prst="rect">
            <a:avLst/>
          </a:prstGeom>
          <a:solidFill>
            <a:srgbClr val="FF4757"/>
          </a:solidFill>
          <a:ln w="12700">
            <a:solidFill>
              <a:srgbClr val="FF4757"/>
            </a:solidFill>
            <a:prstDash val="solid"/>
          </a:ln>
        </p:spPr>
      </p:sp>
      <p:pic>
        <p:nvPicPr>
          <p:cNvPr id="7" name="Image 0" descr="preencoded.png">    </p:cNvPr>
          <p:cNvPicPr>
            <a:picLocks noChangeAspect="1"/>
          </p:cNvPicPr>
          <p:nvPr/>
        </p:nvPicPr>
        <p:blipFill>
          <a:blip r:embed="rId1"/>
          <a:stretch>
            <a:fillRect/>
          </a:stretch>
        </p:blipFill>
        <p:spPr>
          <a:xfrm>
            <a:off x="530352" y="1188720"/>
            <a:ext cx="411480" cy="411480"/>
          </a:xfrm>
          <a:prstGeom prst="rect">
            <a:avLst/>
          </a:prstGeom>
        </p:spPr>
      </p:pic>
      <p:sp>
        <p:nvSpPr>
          <p:cNvPr id="8" name="Text 5"/>
          <p:cNvSpPr/>
          <p:nvPr/>
        </p:nvSpPr>
        <p:spPr>
          <a:xfrm>
            <a:off x="1051560" y="1161288"/>
            <a:ext cx="3383280" cy="347472"/>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Robinhood</a:t>
            </a:r>
            <a:endParaRPr lang="en-US" sz="1400" dirty="0"/>
          </a:p>
        </p:txBody>
      </p:sp>
      <p:sp>
        <p:nvSpPr>
          <p:cNvPr id="9" name="Text 6"/>
          <p:cNvSpPr/>
          <p:nvPr/>
        </p:nvSpPr>
        <p:spPr>
          <a:xfrm>
            <a:off x="530352" y="1600200"/>
            <a:ext cx="3840480" cy="1005840"/>
          </a:xfrm>
          <a:prstGeom prst="rect">
            <a:avLst/>
          </a:prstGeom>
          <a:noFill/>
          <a:ln/>
        </p:spPr>
        <p:txBody>
          <a:bodyPr wrap="square" rtlCol="0" anchor="ctr"/>
          <a:lstStyle/>
          <a:p>
            <a:pPr indent="0" marL="0">
              <a:buNone/>
            </a:pPr>
            <a:r>
              <a:rPr lang="en-US" sz="1150" dirty="0">
                <a:solidFill>
                  <a:srgbClr val="8FAAC3"/>
                </a:solidFill>
                <a:latin typeface="Calibri" pitchFamily="34" charset="0"/>
                <a:ea typeface="Calibri" pitchFamily="34" charset="-122"/>
                <a:cs typeface="Calibri" pitchFamily="34" charset="-120"/>
              </a:rPr>
              <a:t>Black box — gives recommendations with zero explanation. Users cannot evaluate or trust the advice.</a:t>
            </a:r>
            <a:endParaRPr lang="en-US" sz="1150" dirty="0"/>
          </a:p>
        </p:txBody>
      </p:sp>
      <p:sp>
        <p:nvSpPr>
          <p:cNvPr id="10" name="Shape 7"/>
          <p:cNvSpPr/>
          <p:nvPr/>
        </p:nvSpPr>
        <p:spPr>
          <a:xfrm>
            <a:off x="4754880" y="1051560"/>
            <a:ext cx="4206240" cy="1737360"/>
          </a:xfrm>
          <a:prstGeom prst="rect">
            <a:avLst/>
          </a:prstGeom>
          <a:solidFill>
            <a:srgbClr val="112240"/>
          </a:solidFill>
          <a:ln w="12700">
            <a:solidFill>
              <a:srgbClr val="1A3A5C"/>
            </a:solidFill>
            <a:prstDash val="solid"/>
          </a:ln>
        </p:spPr>
      </p:sp>
      <p:sp>
        <p:nvSpPr>
          <p:cNvPr id="11" name="Shape 8"/>
          <p:cNvSpPr/>
          <p:nvPr/>
        </p:nvSpPr>
        <p:spPr>
          <a:xfrm>
            <a:off x="4754880" y="1051560"/>
            <a:ext cx="73152" cy="1737360"/>
          </a:xfrm>
          <a:prstGeom prst="rect">
            <a:avLst/>
          </a:prstGeom>
          <a:solidFill>
            <a:srgbClr val="FFD166"/>
          </a:solidFill>
          <a:ln w="12700">
            <a:solidFill>
              <a:srgbClr val="FFD166"/>
            </a:solidFill>
            <a:prstDash val="solid"/>
          </a:ln>
        </p:spPr>
      </p:sp>
      <p:pic>
        <p:nvPicPr>
          <p:cNvPr id="12" name="Image 1" descr="preencoded.png">    </p:cNvPr>
          <p:cNvPicPr>
            <a:picLocks noChangeAspect="1"/>
          </p:cNvPicPr>
          <p:nvPr/>
        </p:nvPicPr>
        <p:blipFill>
          <a:blip r:embed="rId2"/>
          <a:stretch>
            <a:fillRect/>
          </a:stretch>
        </p:blipFill>
        <p:spPr>
          <a:xfrm>
            <a:off x="4919472" y="1188720"/>
            <a:ext cx="411480" cy="411480"/>
          </a:xfrm>
          <a:prstGeom prst="rect">
            <a:avLst/>
          </a:prstGeom>
        </p:spPr>
      </p:pic>
      <p:sp>
        <p:nvSpPr>
          <p:cNvPr id="13" name="Text 9"/>
          <p:cNvSpPr/>
          <p:nvPr/>
        </p:nvSpPr>
        <p:spPr>
          <a:xfrm>
            <a:off x="5440680" y="1161288"/>
            <a:ext cx="3383280" cy="347472"/>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Bloomberg Terminal</a:t>
            </a:r>
            <a:endParaRPr lang="en-US" sz="1400" dirty="0"/>
          </a:p>
        </p:txBody>
      </p:sp>
      <p:sp>
        <p:nvSpPr>
          <p:cNvPr id="14" name="Text 10"/>
          <p:cNvSpPr/>
          <p:nvPr/>
        </p:nvSpPr>
        <p:spPr>
          <a:xfrm>
            <a:off x="4919472" y="1600200"/>
            <a:ext cx="3840480" cy="1005840"/>
          </a:xfrm>
          <a:prstGeom prst="rect">
            <a:avLst/>
          </a:prstGeom>
          <a:noFill/>
          <a:ln/>
        </p:spPr>
        <p:txBody>
          <a:bodyPr wrap="square" rtlCol="0" anchor="ctr"/>
          <a:lstStyle/>
          <a:p>
            <a:pPr indent="0" marL="0">
              <a:buNone/>
            </a:pPr>
            <a:r>
              <a:rPr lang="en-US" sz="1150" dirty="0">
                <a:solidFill>
                  <a:srgbClr val="8FAAC3"/>
                </a:solidFill>
                <a:latin typeface="Calibri" pitchFamily="34" charset="0"/>
                <a:ea typeface="Calibri" pitchFamily="34" charset="-122"/>
                <a:cs typeface="Calibri" pitchFamily="34" charset="-120"/>
              </a:rPr>
              <a:t>Costs thousands per year, requires specialist training — completely inaccessible to ordinary investors.</a:t>
            </a:r>
            <a:endParaRPr lang="en-US" sz="1150" dirty="0"/>
          </a:p>
        </p:txBody>
      </p:sp>
      <p:sp>
        <p:nvSpPr>
          <p:cNvPr id="15" name="Shape 11"/>
          <p:cNvSpPr/>
          <p:nvPr/>
        </p:nvSpPr>
        <p:spPr>
          <a:xfrm>
            <a:off x="365760" y="2971800"/>
            <a:ext cx="4206240" cy="1737360"/>
          </a:xfrm>
          <a:prstGeom prst="rect">
            <a:avLst/>
          </a:prstGeom>
          <a:solidFill>
            <a:srgbClr val="112240"/>
          </a:solidFill>
          <a:ln w="12700">
            <a:solidFill>
              <a:srgbClr val="1A3A5C"/>
            </a:solidFill>
            <a:prstDash val="solid"/>
          </a:ln>
        </p:spPr>
      </p:sp>
      <p:sp>
        <p:nvSpPr>
          <p:cNvPr id="16" name="Shape 12"/>
          <p:cNvSpPr/>
          <p:nvPr/>
        </p:nvSpPr>
        <p:spPr>
          <a:xfrm>
            <a:off x="365760" y="2971800"/>
            <a:ext cx="73152" cy="1737360"/>
          </a:xfrm>
          <a:prstGeom prst="rect">
            <a:avLst/>
          </a:prstGeom>
          <a:solidFill>
            <a:srgbClr val="FF4757"/>
          </a:solidFill>
          <a:ln w="12700">
            <a:solidFill>
              <a:srgbClr val="FF4757"/>
            </a:solidFill>
            <a:prstDash val="solid"/>
          </a:ln>
        </p:spPr>
      </p:sp>
      <p:pic>
        <p:nvPicPr>
          <p:cNvPr id="17" name="Image 2" descr="preencoded.png">    </p:cNvPr>
          <p:cNvPicPr>
            <a:picLocks noChangeAspect="1"/>
          </p:cNvPicPr>
          <p:nvPr/>
        </p:nvPicPr>
        <p:blipFill>
          <a:blip r:embed="rId3"/>
          <a:stretch>
            <a:fillRect/>
          </a:stretch>
        </p:blipFill>
        <p:spPr>
          <a:xfrm>
            <a:off x="530352" y="3108960"/>
            <a:ext cx="411480" cy="411480"/>
          </a:xfrm>
          <a:prstGeom prst="rect">
            <a:avLst/>
          </a:prstGeom>
        </p:spPr>
      </p:pic>
      <p:sp>
        <p:nvSpPr>
          <p:cNvPr id="18" name="Text 13"/>
          <p:cNvSpPr/>
          <p:nvPr/>
        </p:nvSpPr>
        <p:spPr>
          <a:xfrm>
            <a:off x="1051560" y="3081528"/>
            <a:ext cx="3383280" cy="347472"/>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Open-Source Trading Bots</a:t>
            </a:r>
            <a:endParaRPr lang="en-US" sz="1400" dirty="0"/>
          </a:p>
        </p:txBody>
      </p:sp>
      <p:sp>
        <p:nvSpPr>
          <p:cNvPr id="19" name="Text 14"/>
          <p:cNvSpPr/>
          <p:nvPr/>
        </p:nvSpPr>
        <p:spPr>
          <a:xfrm>
            <a:off x="530352" y="3520440"/>
            <a:ext cx="3840480" cy="1005840"/>
          </a:xfrm>
          <a:prstGeom prst="rect">
            <a:avLst/>
          </a:prstGeom>
          <a:noFill/>
          <a:ln/>
        </p:spPr>
        <p:txBody>
          <a:bodyPr wrap="square" rtlCol="0" anchor="ctr"/>
          <a:lstStyle/>
          <a:p>
            <a:pPr indent="0" marL="0">
              <a:buNone/>
            </a:pPr>
            <a:r>
              <a:rPr lang="en-US" sz="1150" dirty="0">
                <a:solidFill>
                  <a:srgbClr val="8FAAC3"/>
                </a:solidFill>
                <a:latin typeface="Calibri" pitchFamily="34" charset="0"/>
                <a:ea typeface="Calibri" pitchFamily="34" charset="-122"/>
                <a:cs typeface="Calibri" pitchFamily="34" charset="-120"/>
              </a:rPr>
              <a:t>Built for developers only. No user interface or explanation. Non-technical users cannot use them.</a:t>
            </a:r>
            <a:endParaRPr lang="en-US" sz="1150" dirty="0"/>
          </a:p>
        </p:txBody>
      </p:sp>
      <p:sp>
        <p:nvSpPr>
          <p:cNvPr id="20" name="Shape 15"/>
          <p:cNvSpPr/>
          <p:nvPr/>
        </p:nvSpPr>
        <p:spPr>
          <a:xfrm>
            <a:off x="4754880" y="2971800"/>
            <a:ext cx="4206240" cy="1737360"/>
          </a:xfrm>
          <a:prstGeom prst="rect">
            <a:avLst/>
          </a:prstGeom>
          <a:solidFill>
            <a:srgbClr val="112240"/>
          </a:solidFill>
          <a:ln w="12700">
            <a:solidFill>
              <a:srgbClr val="1A3A5C"/>
            </a:solidFill>
            <a:prstDash val="solid"/>
          </a:ln>
        </p:spPr>
      </p:sp>
      <p:sp>
        <p:nvSpPr>
          <p:cNvPr id="21" name="Shape 16"/>
          <p:cNvSpPr/>
          <p:nvPr/>
        </p:nvSpPr>
        <p:spPr>
          <a:xfrm>
            <a:off x="4754880" y="2971800"/>
            <a:ext cx="73152" cy="1737360"/>
          </a:xfrm>
          <a:prstGeom prst="rect">
            <a:avLst/>
          </a:prstGeom>
          <a:solidFill>
            <a:srgbClr val="FFD166"/>
          </a:solidFill>
          <a:ln w="12700">
            <a:solidFill>
              <a:srgbClr val="FFD166"/>
            </a:solidFill>
            <a:prstDash val="solid"/>
          </a:ln>
        </p:spPr>
      </p:sp>
      <p:pic>
        <p:nvPicPr>
          <p:cNvPr id="22" name="Image 3" descr="preencoded.png">    </p:cNvPr>
          <p:cNvPicPr>
            <a:picLocks noChangeAspect="1"/>
          </p:cNvPicPr>
          <p:nvPr/>
        </p:nvPicPr>
        <p:blipFill>
          <a:blip r:embed="rId4"/>
          <a:stretch>
            <a:fillRect/>
          </a:stretch>
        </p:blipFill>
        <p:spPr>
          <a:xfrm>
            <a:off x="4919472" y="3108960"/>
            <a:ext cx="411480" cy="411480"/>
          </a:xfrm>
          <a:prstGeom prst="rect">
            <a:avLst/>
          </a:prstGeom>
        </p:spPr>
      </p:pic>
      <p:sp>
        <p:nvSpPr>
          <p:cNvPr id="23" name="Text 17"/>
          <p:cNvSpPr/>
          <p:nvPr/>
        </p:nvSpPr>
        <p:spPr>
          <a:xfrm>
            <a:off x="5440680" y="3081528"/>
            <a:ext cx="3383280" cy="347472"/>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Human Financial Advisors</a:t>
            </a:r>
            <a:endParaRPr lang="en-US" sz="1400" dirty="0"/>
          </a:p>
        </p:txBody>
      </p:sp>
      <p:sp>
        <p:nvSpPr>
          <p:cNvPr id="24" name="Text 18"/>
          <p:cNvSpPr/>
          <p:nvPr/>
        </p:nvSpPr>
        <p:spPr>
          <a:xfrm>
            <a:off x="4919472" y="3520440"/>
            <a:ext cx="3840480" cy="1005840"/>
          </a:xfrm>
          <a:prstGeom prst="rect">
            <a:avLst/>
          </a:prstGeom>
          <a:noFill/>
          <a:ln/>
        </p:spPr>
        <p:txBody>
          <a:bodyPr wrap="square" rtlCol="0" anchor="ctr"/>
          <a:lstStyle/>
          <a:p>
            <a:pPr indent="0" marL="0">
              <a:buNone/>
            </a:pPr>
            <a:r>
              <a:rPr lang="en-US" sz="1150" dirty="0">
                <a:solidFill>
                  <a:srgbClr val="8FAAC3"/>
                </a:solidFill>
                <a:latin typeface="Calibri" pitchFamily="34" charset="0"/>
                <a:ea typeface="Calibri" pitchFamily="34" charset="-122"/>
                <a:cs typeface="Calibri" pitchFamily="34" charset="-120"/>
              </a:rPr>
              <a:t>Expensive (£150-300/hr), not available 24/7, and often influenced by emotions or commission bias.</a:t>
            </a:r>
            <a:endParaRPr lang="en-US" sz="1150" dirty="0"/>
          </a:p>
        </p:txBody>
      </p:sp>
      <p:sp>
        <p:nvSpPr>
          <p:cNvPr id="25" name="Shape 19"/>
          <p:cNvSpPr/>
          <p:nvPr/>
        </p:nvSpPr>
        <p:spPr>
          <a:xfrm>
            <a:off x="365760" y="4663440"/>
            <a:ext cx="8412480" cy="320040"/>
          </a:xfrm>
          <a:prstGeom prst="rect">
            <a:avLst/>
          </a:prstGeom>
          <a:solidFill>
            <a:srgbClr val="00C2A8"/>
          </a:solidFill>
          <a:ln w="12700">
            <a:solidFill>
              <a:srgbClr val="00C2A8"/>
            </a:solidFill>
            <a:prstDash val="solid"/>
          </a:ln>
        </p:spPr>
      </p:sp>
      <p:sp>
        <p:nvSpPr>
          <p:cNvPr id="26" name="Text 20"/>
          <p:cNvSpPr/>
          <p:nvPr/>
        </p:nvSpPr>
        <p:spPr>
          <a:xfrm>
            <a:off x="365760" y="4663440"/>
            <a:ext cx="8412480" cy="320040"/>
          </a:xfrm>
          <a:prstGeom prst="rect">
            <a:avLst/>
          </a:prstGeom>
          <a:noFill/>
          <a:ln/>
        </p:spPr>
        <p:txBody>
          <a:bodyPr wrap="square" lIns="0" tIns="0" rIns="0" bIns="0" rtlCol="0" anchor="ctr"/>
          <a:lstStyle/>
          <a:p>
            <a:pPr algn="ctr" indent="0" marL="0">
              <a:buNone/>
            </a:pPr>
            <a:r>
              <a:rPr lang="en-US" sz="1100" b="1" dirty="0">
                <a:solidFill>
                  <a:srgbClr val="0A1628"/>
                </a:solidFill>
              </a:rPr>
              <a:t>GAP:  No transparent, free, accessible AI tool that combines ML predictions with plain English explanations.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2137"/>
          </a:solidFill>
          <a:ln w="12700">
            <a:solidFill>
              <a:srgbClr val="0D2137"/>
            </a:solidFill>
            <a:prstDash val="solid"/>
          </a:ln>
        </p:spPr>
      </p:sp>
      <p:sp>
        <p:nvSpPr>
          <p:cNvPr id="3" name="Shape 1"/>
          <p:cNvSpPr/>
          <p:nvPr/>
        </p:nvSpPr>
        <p:spPr>
          <a:xfrm>
            <a:off x="0" y="868680"/>
            <a:ext cx="9144000" cy="45720"/>
          </a:xfrm>
          <a:prstGeom prst="rect">
            <a:avLst/>
          </a:prstGeom>
          <a:solidFill>
            <a:srgbClr val="00C2A8"/>
          </a:solidFill>
          <a:ln w="12700">
            <a:solidFill>
              <a:srgbClr val="00C2A8"/>
            </a:solidFill>
            <a:prstDash val="solid"/>
          </a:ln>
        </p:spPr>
      </p:sp>
      <p:sp>
        <p:nvSpPr>
          <p:cNvPr id="4" name="Text 2"/>
          <p:cNvSpPr/>
          <p:nvPr/>
        </p:nvSpPr>
        <p:spPr>
          <a:xfrm>
            <a:off x="457200" y="0"/>
            <a:ext cx="8229600" cy="91440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MAIN FUNCTIONS &amp; DELIVERABLES</a:t>
            </a:r>
            <a:endParaRPr lang="en-US" sz="2600" dirty="0"/>
          </a:p>
        </p:txBody>
      </p:sp>
      <p:sp>
        <p:nvSpPr>
          <p:cNvPr id="5" name="Shape 3"/>
          <p:cNvSpPr/>
          <p:nvPr/>
        </p:nvSpPr>
        <p:spPr>
          <a:xfrm>
            <a:off x="320040" y="1005840"/>
            <a:ext cx="4251960" cy="1234440"/>
          </a:xfrm>
          <a:prstGeom prst="rect">
            <a:avLst/>
          </a:prstGeom>
          <a:solidFill>
            <a:srgbClr val="112240"/>
          </a:solidFill>
          <a:ln w="12700">
            <a:solidFill>
              <a:srgbClr val="1A3A5C"/>
            </a:solidFill>
            <a:prstDash val="solid"/>
          </a:ln>
          <a:effectLst>
            <a:outerShdw sx="100000" sy="100000" kx="0" ky="0" algn="bl" rotWithShape="0" blurRad="50800" dist="12700" dir="8100000">
              <a:srgbClr val="000000">
                <a:alpha val="20000"/>
              </a:srgbClr>
            </a:outerShdw>
          </a:effectLst>
        </p:spPr>
      </p:sp>
      <p:sp>
        <p:nvSpPr>
          <p:cNvPr id="6" name="Shape 4"/>
          <p:cNvSpPr/>
          <p:nvPr/>
        </p:nvSpPr>
        <p:spPr>
          <a:xfrm>
            <a:off x="411480" y="1097280"/>
            <a:ext cx="384048" cy="384048"/>
          </a:xfrm>
          <a:prstGeom prst="rect">
            <a:avLst/>
          </a:prstGeom>
          <a:solidFill>
            <a:srgbClr val="00C2A8"/>
          </a:solidFill>
          <a:ln w="12700">
            <a:solidFill>
              <a:srgbClr val="00C2A8"/>
            </a:solidFill>
            <a:prstDash val="solid"/>
          </a:ln>
        </p:spPr>
      </p:sp>
      <p:sp>
        <p:nvSpPr>
          <p:cNvPr id="7" name="Text 5"/>
          <p:cNvSpPr/>
          <p:nvPr/>
        </p:nvSpPr>
        <p:spPr>
          <a:xfrm>
            <a:off x="411480" y="1097280"/>
            <a:ext cx="384048" cy="384048"/>
          </a:xfrm>
          <a:prstGeom prst="rect">
            <a:avLst/>
          </a:prstGeom>
          <a:noFill/>
          <a:ln/>
        </p:spPr>
        <p:txBody>
          <a:bodyPr wrap="square" lIns="0" tIns="0" rIns="0" bIns="0" rtlCol="0" anchor="ctr"/>
          <a:lstStyle/>
          <a:p>
            <a:pPr algn="ctr" indent="0" marL="0">
              <a:buNone/>
            </a:pPr>
            <a:r>
              <a:rPr lang="en-US" sz="1100" b="1" dirty="0">
                <a:solidFill>
                  <a:srgbClr val="0A1628"/>
                </a:solidFill>
              </a:rPr>
              <a:t>01</a:t>
            </a:r>
            <a:endParaRPr lang="en-US" sz="1100" dirty="0"/>
          </a:p>
        </p:txBody>
      </p:sp>
      <p:pic>
        <p:nvPicPr>
          <p:cNvPr id="8" name="Image 0" descr="preencoded.png">    </p:cNvPr>
          <p:cNvPicPr>
            <a:picLocks noChangeAspect="1"/>
          </p:cNvPicPr>
          <p:nvPr/>
        </p:nvPicPr>
        <p:blipFill>
          <a:blip r:embed="rId1"/>
          <a:stretch>
            <a:fillRect/>
          </a:stretch>
        </p:blipFill>
        <p:spPr>
          <a:xfrm>
            <a:off x="914400" y="1115568"/>
            <a:ext cx="365760" cy="365760"/>
          </a:xfrm>
          <a:prstGeom prst="rect">
            <a:avLst/>
          </a:prstGeom>
        </p:spPr>
      </p:pic>
      <p:sp>
        <p:nvSpPr>
          <p:cNvPr id="9" name="Text 6"/>
          <p:cNvSpPr/>
          <p:nvPr/>
        </p:nvSpPr>
        <p:spPr>
          <a:xfrm>
            <a:off x="1371600" y="1097280"/>
            <a:ext cx="3063240" cy="36576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Automated Data Collection</a:t>
            </a:r>
            <a:endParaRPr lang="en-US" sz="1200" dirty="0"/>
          </a:p>
        </p:txBody>
      </p:sp>
      <p:sp>
        <p:nvSpPr>
          <p:cNvPr id="10" name="Text 7"/>
          <p:cNvSpPr/>
          <p:nvPr/>
        </p:nvSpPr>
        <p:spPr>
          <a:xfrm>
            <a:off x="429768" y="1554480"/>
            <a:ext cx="4005072" cy="621792"/>
          </a:xfrm>
          <a:prstGeom prst="rect">
            <a:avLst/>
          </a:prstGeom>
          <a:noFill/>
          <a:ln/>
        </p:spPr>
        <p:txBody>
          <a:bodyPr wrap="square" rtlCol="0" anchor="ctr"/>
          <a:lstStyle/>
          <a:p>
            <a:pPr indent="0" marL="0">
              <a:buNone/>
            </a:pPr>
            <a:r>
              <a:rPr lang="en-US" sz="1050" dirty="0">
                <a:solidFill>
                  <a:srgbClr val="8FAAC3"/>
                </a:solidFill>
                <a:latin typeface="Calibri" pitchFamily="34" charset="0"/>
                <a:ea typeface="Calibri" pitchFamily="34" charset="-122"/>
                <a:cs typeface="Calibri" pitchFamily="34" charset="-120"/>
              </a:rPr>
              <a:t>Fetch real-time &amp; historical stock price data from Yahoo Finance API (OHLCV format)</a:t>
            </a:r>
            <a:endParaRPr lang="en-US" sz="1050" dirty="0"/>
          </a:p>
        </p:txBody>
      </p:sp>
      <p:sp>
        <p:nvSpPr>
          <p:cNvPr id="11" name="Shape 8"/>
          <p:cNvSpPr/>
          <p:nvPr/>
        </p:nvSpPr>
        <p:spPr>
          <a:xfrm>
            <a:off x="4754880" y="1005840"/>
            <a:ext cx="4251960" cy="1234440"/>
          </a:xfrm>
          <a:prstGeom prst="rect">
            <a:avLst/>
          </a:prstGeom>
          <a:solidFill>
            <a:srgbClr val="112240"/>
          </a:solidFill>
          <a:ln w="12700">
            <a:solidFill>
              <a:srgbClr val="1A3A5C"/>
            </a:solidFill>
            <a:prstDash val="solid"/>
          </a:ln>
          <a:effectLst>
            <a:outerShdw sx="100000" sy="100000" kx="0" ky="0" algn="bl" rotWithShape="0" blurRad="50800" dist="12700" dir="8100000">
              <a:srgbClr val="000000">
                <a:alpha val="20000"/>
              </a:srgbClr>
            </a:outerShdw>
          </a:effectLst>
        </p:spPr>
      </p:sp>
      <p:sp>
        <p:nvSpPr>
          <p:cNvPr id="12" name="Shape 9"/>
          <p:cNvSpPr/>
          <p:nvPr/>
        </p:nvSpPr>
        <p:spPr>
          <a:xfrm>
            <a:off x="4846320" y="1097280"/>
            <a:ext cx="384048" cy="384048"/>
          </a:xfrm>
          <a:prstGeom prst="rect">
            <a:avLst/>
          </a:prstGeom>
          <a:solidFill>
            <a:srgbClr val="00C2A8"/>
          </a:solidFill>
          <a:ln w="12700">
            <a:solidFill>
              <a:srgbClr val="00C2A8"/>
            </a:solidFill>
            <a:prstDash val="solid"/>
          </a:ln>
        </p:spPr>
      </p:sp>
      <p:sp>
        <p:nvSpPr>
          <p:cNvPr id="13" name="Text 10"/>
          <p:cNvSpPr/>
          <p:nvPr/>
        </p:nvSpPr>
        <p:spPr>
          <a:xfrm>
            <a:off x="4846320" y="1097280"/>
            <a:ext cx="384048" cy="384048"/>
          </a:xfrm>
          <a:prstGeom prst="rect">
            <a:avLst/>
          </a:prstGeom>
          <a:noFill/>
          <a:ln/>
        </p:spPr>
        <p:txBody>
          <a:bodyPr wrap="square" lIns="0" tIns="0" rIns="0" bIns="0" rtlCol="0" anchor="ctr"/>
          <a:lstStyle/>
          <a:p>
            <a:pPr algn="ctr" indent="0" marL="0">
              <a:buNone/>
            </a:pPr>
            <a:r>
              <a:rPr lang="en-US" sz="1100" b="1" dirty="0">
                <a:solidFill>
                  <a:srgbClr val="0A1628"/>
                </a:solidFill>
              </a:rPr>
              <a:t>02</a:t>
            </a:r>
            <a:endParaRPr lang="en-US" sz="1100" dirty="0"/>
          </a:p>
        </p:txBody>
      </p:sp>
      <p:pic>
        <p:nvPicPr>
          <p:cNvPr id="14" name="Image 1" descr="preencoded.png">    </p:cNvPr>
          <p:cNvPicPr>
            <a:picLocks noChangeAspect="1"/>
          </p:cNvPicPr>
          <p:nvPr/>
        </p:nvPicPr>
        <p:blipFill>
          <a:blip r:embed="rId2"/>
          <a:stretch>
            <a:fillRect/>
          </a:stretch>
        </p:blipFill>
        <p:spPr>
          <a:xfrm>
            <a:off x="5349240" y="1115568"/>
            <a:ext cx="365760" cy="365760"/>
          </a:xfrm>
          <a:prstGeom prst="rect">
            <a:avLst/>
          </a:prstGeom>
        </p:spPr>
      </p:pic>
      <p:sp>
        <p:nvSpPr>
          <p:cNvPr id="15" name="Text 11"/>
          <p:cNvSpPr/>
          <p:nvPr/>
        </p:nvSpPr>
        <p:spPr>
          <a:xfrm>
            <a:off x="5806440" y="1097280"/>
            <a:ext cx="3063240" cy="36576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Feature Engineering Pipeline</a:t>
            </a:r>
            <a:endParaRPr lang="en-US" sz="1200" dirty="0"/>
          </a:p>
        </p:txBody>
      </p:sp>
      <p:sp>
        <p:nvSpPr>
          <p:cNvPr id="16" name="Text 12"/>
          <p:cNvSpPr/>
          <p:nvPr/>
        </p:nvSpPr>
        <p:spPr>
          <a:xfrm>
            <a:off x="4864608" y="1554480"/>
            <a:ext cx="4005072" cy="621792"/>
          </a:xfrm>
          <a:prstGeom prst="rect">
            <a:avLst/>
          </a:prstGeom>
          <a:noFill/>
          <a:ln/>
        </p:spPr>
        <p:txBody>
          <a:bodyPr wrap="square" rtlCol="0" anchor="ctr"/>
          <a:lstStyle/>
          <a:p>
            <a:pPr indent="0" marL="0">
              <a:buNone/>
            </a:pPr>
            <a:r>
              <a:rPr lang="en-US" sz="1050" dirty="0">
                <a:solidFill>
                  <a:srgbClr val="8FAAC3"/>
                </a:solidFill>
                <a:latin typeface="Calibri" pitchFamily="34" charset="0"/>
                <a:ea typeface="Calibri" pitchFamily="34" charset="-122"/>
                <a:cs typeface="Calibri" pitchFamily="34" charset="-120"/>
              </a:rPr>
              <a:t>Calculate technical indicators: Moving Averages, RSI, MACD, Bollinger Bands, Volume Ratio</a:t>
            </a:r>
            <a:endParaRPr lang="en-US" sz="1050" dirty="0"/>
          </a:p>
        </p:txBody>
      </p:sp>
      <p:sp>
        <p:nvSpPr>
          <p:cNvPr id="17" name="Shape 13"/>
          <p:cNvSpPr/>
          <p:nvPr/>
        </p:nvSpPr>
        <p:spPr>
          <a:xfrm>
            <a:off x="320040" y="2377440"/>
            <a:ext cx="4251960" cy="1234440"/>
          </a:xfrm>
          <a:prstGeom prst="rect">
            <a:avLst/>
          </a:prstGeom>
          <a:solidFill>
            <a:srgbClr val="112240"/>
          </a:solidFill>
          <a:ln w="12700">
            <a:solidFill>
              <a:srgbClr val="1A3A5C"/>
            </a:solidFill>
            <a:prstDash val="solid"/>
          </a:ln>
          <a:effectLst>
            <a:outerShdw sx="100000" sy="100000" kx="0" ky="0" algn="bl" rotWithShape="0" blurRad="50800" dist="12700" dir="8100000">
              <a:srgbClr val="000000">
                <a:alpha val="20000"/>
              </a:srgbClr>
            </a:outerShdw>
          </a:effectLst>
        </p:spPr>
      </p:sp>
      <p:sp>
        <p:nvSpPr>
          <p:cNvPr id="18" name="Shape 14"/>
          <p:cNvSpPr/>
          <p:nvPr/>
        </p:nvSpPr>
        <p:spPr>
          <a:xfrm>
            <a:off x="411480" y="2468880"/>
            <a:ext cx="384048" cy="384048"/>
          </a:xfrm>
          <a:prstGeom prst="rect">
            <a:avLst/>
          </a:prstGeom>
          <a:solidFill>
            <a:srgbClr val="00C2A8"/>
          </a:solidFill>
          <a:ln w="12700">
            <a:solidFill>
              <a:srgbClr val="00C2A8"/>
            </a:solidFill>
            <a:prstDash val="solid"/>
          </a:ln>
        </p:spPr>
      </p:sp>
      <p:sp>
        <p:nvSpPr>
          <p:cNvPr id="19" name="Text 15"/>
          <p:cNvSpPr/>
          <p:nvPr/>
        </p:nvSpPr>
        <p:spPr>
          <a:xfrm>
            <a:off x="411480" y="2468880"/>
            <a:ext cx="384048" cy="384048"/>
          </a:xfrm>
          <a:prstGeom prst="rect">
            <a:avLst/>
          </a:prstGeom>
          <a:noFill/>
          <a:ln/>
        </p:spPr>
        <p:txBody>
          <a:bodyPr wrap="square" lIns="0" tIns="0" rIns="0" bIns="0" rtlCol="0" anchor="ctr"/>
          <a:lstStyle/>
          <a:p>
            <a:pPr algn="ctr" indent="0" marL="0">
              <a:buNone/>
            </a:pPr>
            <a:r>
              <a:rPr lang="en-US" sz="1100" b="1" dirty="0">
                <a:solidFill>
                  <a:srgbClr val="0A1628"/>
                </a:solidFill>
              </a:rPr>
              <a:t>03</a:t>
            </a:r>
            <a:endParaRPr lang="en-US" sz="1100" dirty="0"/>
          </a:p>
        </p:txBody>
      </p:sp>
      <p:pic>
        <p:nvPicPr>
          <p:cNvPr id="20" name="Image 2" descr="preencoded.png">    </p:cNvPr>
          <p:cNvPicPr>
            <a:picLocks noChangeAspect="1"/>
          </p:cNvPicPr>
          <p:nvPr/>
        </p:nvPicPr>
        <p:blipFill>
          <a:blip r:embed="rId3"/>
          <a:stretch>
            <a:fillRect/>
          </a:stretch>
        </p:blipFill>
        <p:spPr>
          <a:xfrm>
            <a:off x="914400" y="2487168"/>
            <a:ext cx="365760" cy="365760"/>
          </a:xfrm>
          <a:prstGeom prst="rect">
            <a:avLst/>
          </a:prstGeom>
        </p:spPr>
      </p:pic>
      <p:sp>
        <p:nvSpPr>
          <p:cNvPr id="21" name="Text 16"/>
          <p:cNvSpPr/>
          <p:nvPr/>
        </p:nvSpPr>
        <p:spPr>
          <a:xfrm>
            <a:off x="1371600" y="2468880"/>
            <a:ext cx="3063240" cy="36576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ML Prediction Engine</a:t>
            </a:r>
            <a:endParaRPr lang="en-US" sz="1200" dirty="0"/>
          </a:p>
        </p:txBody>
      </p:sp>
      <p:sp>
        <p:nvSpPr>
          <p:cNvPr id="22" name="Text 17"/>
          <p:cNvSpPr/>
          <p:nvPr/>
        </p:nvSpPr>
        <p:spPr>
          <a:xfrm>
            <a:off x="429768" y="2926080"/>
            <a:ext cx="4005072" cy="621792"/>
          </a:xfrm>
          <a:prstGeom prst="rect">
            <a:avLst/>
          </a:prstGeom>
          <a:noFill/>
          <a:ln/>
        </p:spPr>
        <p:txBody>
          <a:bodyPr wrap="square" rtlCol="0" anchor="ctr"/>
          <a:lstStyle/>
          <a:p>
            <a:pPr indent="0" marL="0">
              <a:buNone/>
            </a:pPr>
            <a:r>
              <a:rPr lang="en-US" sz="1050" dirty="0">
                <a:solidFill>
                  <a:srgbClr val="8FAAC3"/>
                </a:solidFill>
                <a:latin typeface="Calibri" pitchFamily="34" charset="0"/>
                <a:ea typeface="Calibri" pitchFamily="34" charset="-122"/>
                <a:cs typeface="Calibri" pitchFamily="34" charset="-120"/>
              </a:rPr>
              <a:t>Random Forest baseline + LSTM neural network — classify each stock as BUY or SELL with confidence score</a:t>
            </a:r>
            <a:endParaRPr lang="en-US" sz="1050" dirty="0"/>
          </a:p>
        </p:txBody>
      </p:sp>
      <p:sp>
        <p:nvSpPr>
          <p:cNvPr id="23" name="Shape 18"/>
          <p:cNvSpPr/>
          <p:nvPr/>
        </p:nvSpPr>
        <p:spPr>
          <a:xfrm>
            <a:off x="4754880" y="2377440"/>
            <a:ext cx="4251960" cy="1234440"/>
          </a:xfrm>
          <a:prstGeom prst="rect">
            <a:avLst/>
          </a:prstGeom>
          <a:solidFill>
            <a:srgbClr val="112240"/>
          </a:solidFill>
          <a:ln w="12700">
            <a:solidFill>
              <a:srgbClr val="1A3A5C"/>
            </a:solidFill>
            <a:prstDash val="solid"/>
          </a:ln>
          <a:effectLst>
            <a:outerShdw sx="100000" sy="100000" kx="0" ky="0" algn="bl" rotWithShape="0" blurRad="50800" dist="12700" dir="8100000">
              <a:srgbClr val="000000">
                <a:alpha val="20000"/>
              </a:srgbClr>
            </a:outerShdw>
          </a:effectLst>
        </p:spPr>
      </p:sp>
      <p:sp>
        <p:nvSpPr>
          <p:cNvPr id="24" name="Shape 19"/>
          <p:cNvSpPr/>
          <p:nvPr/>
        </p:nvSpPr>
        <p:spPr>
          <a:xfrm>
            <a:off x="4846320" y="2468880"/>
            <a:ext cx="384048" cy="384048"/>
          </a:xfrm>
          <a:prstGeom prst="rect">
            <a:avLst/>
          </a:prstGeom>
          <a:solidFill>
            <a:srgbClr val="00C2A8"/>
          </a:solidFill>
          <a:ln w="12700">
            <a:solidFill>
              <a:srgbClr val="00C2A8"/>
            </a:solidFill>
            <a:prstDash val="solid"/>
          </a:ln>
        </p:spPr>
      </p:sp>
      <p:sp>
        <p:nvSpPr>
          <p:cNvPr id="25" name="Text 20"/>
          <p:cNvSpPr/>
          <p:nvPr/>
        </p:nvSpPr>
        <p:spPr>
          <a:xfrm>
            <a:off x="4846320" y="2468880"/>
            <a:ext cx="384048" cy="384048"/>
          </a:xfrm>
          <a:prstGeom prst="rect">
            <a:avLst/>
          </a:prstGeom>
          <a:noFill/>
          <a:ln/>
        </p:spPr>
        <p:txBody>
          <a:bodyPr wrap="square" lIns="0" tIns="0" rIns="0" bIns="0" rtlCol="0" anchor="ctr"/>
          <a:lstStyle/>
          <a:p>
            <a:pPr algn="ctr" indent="0" marL="0">
              <a:buNone/>
            </a:pPr>
            <a:r>
              <a:rPr lang="en-US" sz="1100" b="1" dirty="0">
                <a:solidFill>
                  <a:srgbClr val="0A1628"/>
                </a:solidFill>
              </a:rPr>
              <a:t>04</a:t>
            </a:r>
            <a:endParaRPr lang="en-US" sz="1100" dirty="0"/>
          </a:p>
        </p:txBody>
      </p:sp>
      <p:pic>
        <p:nvPicPr>
          <p:cNvPr id="26" name="Image 3" descr="preencoded.png">    </p:cNvPr>
          <p:cNvPicPr>
            <a:picLocks noChangeAspect="1"/>
          </p:cNvPicPr>
          <p:nvPr/>
        </p:nvPicPr>
        <p:blipFill>
          <a:blip r:embed="rId4"/>
          <a:stretch>
            <a:fillRect/>
          </a:stretch>
        </p:blipFill>
        <p:spPr>
          <a:xfrm>
            <a:off x="5349240" y="2487168"/>
            <a:ext cx="365760" cy="365760"/>
          </a:xfrm>
          <a:prstGeom prst="rect">
            <a:avLst/>
          </a:prstGeom>
        </p:spPr>
      </p:pic>
      <p:sp>
        <p:nvSpPr>
          <p:cNvPr id="27" name="Text 21"/>
          <p:cNvSpPr/>
          <p:nvPr/>
        </p:nvSpPr>
        <p:spPr>
          <a:xfrm>
            <a:off x="5806440" y="2468880"/>
            <a:ext cx="3063240" cy="36576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Backtesting System</a:t>
            </a:r>
            <a:endParaRPr lang="en-US" sz="1200" dirty="0"/>
          </a:p>
        </p:txBody>
      </p:sp>
      <p:sp>
        <p:nvSpPr>
          <p:cNvPr id="28" name="Text 22"/>
          <p:cNvSpPr/>
          <p:nvPr/>
        </p:nvSpPr>
        <p:spPr>
          <a:xfrm>
            <a:off x="4864608" y="2926080"/>
            <a:ext cx="4005072" cy="621792"/>
          </a:xfrm>
          <a:prstGeom prst="rect">
            <a:avLst/>
          </a:prstGeom>
          <a:noFill/>
          <a:ln/>
        </p:spPr>
        <p:txBody>
          <a:bodyPr wrap="square" rtlCol="0" anchor="ctr"/>
          <a:lstStyle/>
          <a:p>
            <a:pPr indent="0" marL="0">
              <a:buNone/>
            </a:pPr>
            <a:r>
              <a:rPr lang="en-US" sz="1050" dirty="0">
                <a:solidFill>
                  <a:srgbClr val="8FAAC3"/>
                </a:solidFill>
                <a:latin typeface="Calibri" pitchFamily="34" charset="0"/>
                <a:ea typeface="Calibri" pitchFamily="34" charset="-122"/>
                <a:cs typeface="Calibri" pitchFamily="34" charset="-120"/>
              </a:rPr>
              <a:t>Evaluate AI strategy on historical data and compare against buy-and-hold baseline</a:t>
            </a:r>
            <a:endParaRPr lang="en-US" sz="1050" dirty="0"/>
          </a:p>
        </p:txBody>
      </p:sp>
      <p:sp>
        <p:nvSpPr>
          <p:cNvPr id="29" name="Shape 23"/>
          <p:cNvSpPr/>
          <p:nvPr/>
        </p:nvSpPr>
        <p:spPr>
          <a:xfrm>
            <a:off x="320040" y="3749040"/>
            <a:ext cx="4251960" cy="1234440"/>
          </a:xfrm>
          <a:prstGeom prst="rect">
            <a:avLst/>
          </a:prstGeom>
          <a:solidFill>
            <a:srgbClr val="112240"/>
          </a:solidFill>
          <a:ln w="12700">
            <a:solidFill>
              <a:srgbClr val="1A3A5C"/>
            </a:solidFill>
            <a:prstDash val="solid"/>
          </a:ln>
          <a:effectLst>
            <a:outerShdw sx="100000" sy="100000" kx="0" ky="0" algn="bl" rotWithShape="0" blurRad="50800" dist="12700" dir="8100000">
              <a:srgbClr val="000000">
                <a:alpha val="20000"/>
              </a:srgbClr>
            </a:outerShdw>
          </a:effectLst>
        </p:spPr>
      </p:sp>
      <p:sp>
        <p:nvSpPr>
          <p:cNvPr id="30" name="Shape 24"/>
          <p:cNvSpPr/>
          <p:nvPr/>
        </p:nvSpPr>
        <p:spPr>
          <a:xfrm>
            <a:off x="411480" y="3840480"/>
            <a:ext cx="384048" cy="384048"/>
          </a:xfrm>
          <a:prstGeom prst="rect">
            <a:avLst/>
          </a:prstGeom>
          <a:solidFill>
            <a:srgbClr val="00C2A8"/>
          </a:solidFill>
          <a:ln w="12700">
            <a:solidFill>
              <a:srgbClr val="00C2A8"/>
            </a:solidFill>
            <a:prstDash val="solid"/>
          </a:ln>
        </p:spPr>
      </p:sp>
      <p:sp>
        <p:nvSpPr>
          <p:cNvPr id="31" name="Text 25"/>
          <p:cNvSpPr/>
          <p:nvPr/>
        </p:nvSpPr>
        <p:spPr>
          <a:xfrm>
            <a:off x="411480" y="3840480"/>
            <a:ext cx="384048" cy="384048"/>
          </a:xfrm>
          <a:prstGeom prst="rect">
            <a:avLst/>
          </a:prstGeom>
          <a:noFill/>
          <a:ln/>
        </p:spPr>
        <p:txBody>
          <a:bodyPr wrap="square" lIns="0" tIns="0" rIns="0" bIns="0" rtlCol="0" anchor="ctr"/>
          <a:lstStyle/>
          <a:p>
            <a:pPr algn="ctr" indent="0" marL="0">
              <a:buNone/>
            </a:pPr>
            <a:r>
              <a:rPr lang="en-US" sz="1100" b="1" dirty="0">
                <a:solidFill>
                  <a:srgbClr val="0A1628"/>
                </a:solidFill>
              </a:rPr>
              <a:t>05</a:t>
            </a:r>
            <a:endParaRPr lang="en-US" sz="1100" dirty="0"/>
          </a:p>
        </p:txBody>
      </p:sp>
      <p:pic>
        <p:nvPicPr>
          <p:cNvPr id="32" name="Image 4" descr="preencoded.png">    </p:cNvPr>
          <p:cNvPicPr>
            <a:picLocks noChangeAspect="1"/>
          </p:cNvPicPr>
          <p:nvPr/>
        </p:nvPicPr>
        <p:blipFill>
          <a:blip r:embed="rId5"/>
          <a:stretch>
            <a:fillRect/>
          </a:stretch>
        </p:blipFill>
        <p:spPr>
          <a:xfrm>
            <a:off x="914400" y="3858768"/>
            <a:ext cx="365760" cy="365760"/>
          </a:xfrm>
          <a:prstGeom prst="rect">
            <a:avLst/>
          </a:prstGeom>
        </p:spPr>
      </p:pic>
      <p:sp>
        <p:nvSpPr>
          <p:cNvPr id="33" name="Text 26"/>
          <p:cNvSpPr/>
          <p:nvPr/>
        </p:nvSpPr>
        <p:spPr>
          <a:xfrm>
            <a:off x="1371600" y="3840480"/>
            <a:ext cx="3063240" cy="36576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Explanation Generator</a:t>
            </a:r>
            <a:endParaRPr lang="en-US" sz="1200" dirty="0"/>
          </a:p>
        </p:txBody>
      </p:sp>
      <p:sp>
        <p:nvSpPr>
          <p:cNvPr id="34" name="Text 27"/>
          <p:cNvSpPr/>
          <p:nvPr/>
        </p:nvSpPr>
        <p:spPr>
          <a:xfrm>
            <a:off x="429768" y="4297680"/>
            <a:ext cx="4005072" cy="621792"/>
          </a:xfrm>
          <a:prstGeom prst="rect">
            <a:avLst/>
          </a:prstGeom>
          <a:noFill/>
          <a:ln/>
        </p:spPr>
        <p:txBody>
          <a:bodyPr wrap="square" rtlCol="0" anchor="ctr"/>
          <a:lstStyle/>
          <a:p>
            <a:pPr indent="0" marL="0">
              <a:buNone/>
            </a:pPr>
            <a:r>
              <a:rPr lang="en-US" sz="1050" dirty="0">
                <a:solidFill>
                  <a:srgbClr val="8FAAC3"/>
                </a:solidFill>
                <a:latin typeface="Calibri" pitchFamily="34" charset="0"/>
                <a:ea typeface="Calibri" pitchFamily="34" charset="-122"/>
                <a:cs typeface="Calibri" pitchFamily="34" charset="-120"/>
              </a:rPr>
              <a:t>Convert model outputs into plain English reasons non-technical users can understand</a:t>
            </a:r>
            <a:endParaRPr lang="en-US" sz="1050" dirty="0"/>
          </a:p>
        </p:txBody>
      </p:sp>
      <p:sp>
        <p:nvSpPr>
          <p:cNvPr id="35" name="Shape 28"/>
          <p:cNvSpPr/>
          <p:nvPr/>
        </p:nvSpPr>
        <p:spPr>
          <a:xfrm>
            <a:off x="4754880" y="3749040"/>
            <a:ext cx="4251960" cy="1234440"/>
          </a:xfrm>
          <a:prstGeom prst="rect">
            <a:avLst/>
          </a:prstGeom>
          <a:solidFill>
            <a:srgbClr val="112240"/>
          </a:solidFill>
          <a:ln w="12700">
            <a:solidFill>
              <a:srgbClr val="1A3A5C"/>
            </a:solidFill>
            <a:prstDash val="solid"/>
          </a:ln>
          <a:effectLst>
            <a:outerShdw sx="100000" sy="100000" kx="0" ky="0" algn="bl" rotWithShape="0" blurRad="50800" dist="12700" dir="8100000">
              <a:srgbClr val="000000">
                <a:alpha val="20000"/>
              </a:srgbClr>
            </a:outerShdw>
          </a:effectLst>
        </p:spPr>
      </p:sp>
      <p:sp>
        <p:nvSpPr>
          <p:cNvPr id="36" name="Shape 29"/>
          <p:cNvSpPr/>
          <p:nvPr/>
        </p:nvSpPr>
        <p:spPr>
          <a:xfrm>
            <a:off x="4846320" y="3840480"/>
            <a:ext cx="384048" cy="384048"/>
          </a:xfrm>
          <a:prstGeom prst="rect">
            <a:avLst/>
          </a:prstGeom>
          <a:solidFill>
            <a:srgbClr val="00C2A8"/>
          </a:solidFill>
          <a:ln w="12700">
            <a:solidFill>
              <a:srgbClr val="00C2A8"/>
            </a:solidFill>
            <a:prstDash val="solid"/>
          </a:ln>
        </p:spPr>
      </p:sp>
      <p:sp>
        <p:nvSpPr>
          <p:cNvPr id="37" name="Text 30"/>
          <p:cNvSpPr/>
          <p:nvPr/>
        </p:nvSpPr>
        <p:spPr>
          <a:xfrm>
            <a:off x="4846320" y="3840480"/>
            <a:ext cx="384048" cy="384048"/>
          </a:xfrm>
          <a:prstGeom prst="rect">
            <a:avLst/>
          </a:prstGeom>
          <a:noFill/>
          <a:ln/>
        </p:spPr>
        <p:txBody>
          <a:bodyPr wrap="square" lIns="0" tIns="0" rIns="0" bIns="0" rtlCol="0" anchor="ctr"/>
          <a:lstStyle/>
          <a:p>
            <a:pPr algn="ctr" indent="0" marL="0">
              <a:buNone/>
            </a:pPr>
            <a:r>
              <a:rPr lang="en-US" sz="1100" b="1" dirty="0">
                <a:solidFill>
                  <a:srgbClr val="0A1628"/>
                </a:solidFill>
              </a:rPr>
              <a:t>06</a:t>
            </a:r>
            <a:endParaRPr lang="en-US" sz="1100" dirty="0"/>
          </a:p>
        </p:txBody>
      </p:sp>
      <p:pic>
        <p:nvPicPr>
          <p:cNvPr id="38" name="Image 5" descr="preencoded.png">    </p:cNvPr>
          <p:cNvPicPr>
            <a:picLocks noChangeAspect="1"/>
          </p:cNvPicPr>
          <p:nvPr/>
        </p:nvPicPr>
        <p:blipFill>
          <a:blip r:embed="rId6"/>
          <a:stretch>
            <a:fillRect/>
          </a:stretch>
        </p:blipFill>
        <p:spPr>
          <a:xfrm>
            <a:off x="5349240" y="3858768"/>
            <a:ext cx="365760" cy="365760"/>
          </a:xfrm>
          <a:prstGeom prst="rect">
            <a:avLst/>
          </a:prstGeom>
        </p:spPr>
      </p:pic>
      <p:sp>
        <p:nvSpPr>
          <p:cNvPr id="39" name="Text 31"/>
          <p:cNvSpPr/>
          <p:nvPr/>
        </p:nvSpPr>
        <p:spPr>
          <a:xfrm>
            <a:off x="5806440" y="3840480"/>
            <a:ext cx="3063240" cy="36576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Web Interface</a:t>
            </a:r>
            <a:endParaRPr lang="en-US" sz="1200" dirty="0"/>
          </a:p>
        </p:txBody>
      </p:sp>
      <p:sp>
        <p:nvSpPr>
          <p:cNvPr id="40" name="Text 32"/>
          <p:cNvSpPr/>
          <p:nvPr/>
        </p:nvSpPr>
        <p:spPr>
          <a:xfrm>
            <a:off x="4864608" y="4297680"/>
            <a:ext cx="4005072" cy="621792"/>
          </a:xfrm>
          <a:prstGeom prst="rect">
            <a:avLst/>
          </a:prstGeom>
          <a:noFill/>
          <a:ln/>
        </p:spPr>
        <p:txBody>
          <a:bodyPr wrap="square" rtlCol="0" anchor="ctr"/>
          <a:lstStyle/>
          <a:p>
            <a:pPr indent="0" marL="0">
              <a:buNone/>
            </a:pPr>
            <a:r>
              <a:rPr lang="en-US" sz="1050" dirty="0">
                <a:solidFill>
                  <a:srgbClr val="8FAAC3"/>
                </a:solidFill>
                <a:latin typeface="Calibri" pitchFamily="34" charset="0"/>
                <a:ea typeface="Calibri" pitchFamily="34" charset="-122"/>
                <a:cs typeface="Calibri" pitchFamily="34" charset="-120"/>
              </a:rPr>
              <a:t>Clean, user-friendly frontend: enter a stock ticker, receive recommendation + explanation</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2137"/>
          </a:solidFill>
          <a:ln w="12700">
            <a:solidFill>
              <a:srgbClr val="0D2137"/>
            </a:solidFill>
            <a:prstDash val="solid"/>
          </a:ln>
        </p:spPr>
      </p:sp>
      <p:sp>
        <p:nvSpPr>
          <p:cNvPr id="3" name="Shape 1"/>
          <p:cNvSpPr/>
          <p:nvPr/>
        </p:nvSpPr>
        <p:spPr>
          <a:xfrm>
            <a:off x="0" y="868680"/>
            <a:ext cx="9144000" cy="45720"/>
          </a:xfrm>
          <a:prstGeom prst="rect">
            <a:avLst/>
          </a:prstGeom>
          <a:solidFill>
            <a:srgbClr val="00C2A8"/>
          </a:solidFill>
          <a:ln w="12700">
            <a:solidFill>
              <a:srgbClr val="00C2A8"/>
            </a:solidFill>
            <a:prstDash val="solid"/>
          </a:ln>
        </p:spPr>
      </p:sp>
      <p:sp>
        <p:nvSpPr>
          <p:cNvPr id="4" name="Text 2"/>
          <p:cNvSpPr/>
          <p:nvPr/>
        </p:nvSpPr>
        <p:spPr>
          <a:xfrm>
            <a:off x="457200" y="0"/>
            <a:ext cx="8229600" cy="91440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TECHNIQUES, TOOLS &amp; METHODOLOGY</a:t>
            </a:r>
            <a:endParaRPr lang="en-US" sz="2600" dirty="0"/>
          </a:p>
        </p:txBody>
      </p:sp>
      <p:sp>
        <p:nvSpPr>
          <p:cNvPr id="5" name="Shape 3"/>
          <p:cNvSpPr/>
          <p:nvPr/>
        </p:nvSpPr>
        <p:spPr>
          <a:xfrm>
            <a:off x="274320" y="1005840"/>
            <a:ext cx="2788920" cy="1874520"/>
          </a:xfrm>
          <a:prstGeom prst="rect">
            <a:avLst/>
          </a:prstGeom>
          <a:solidFill>
            <a:srgbClr val="112240"/>
          </a:solidFill>
          <a:ln w="12700">
            <a:solidFill>
              <a:srgbClr val="1A3A5C"/>
            </a:solidFill>
            <a:prstDash val="solid"/>
          </a:ln>
        </p:spPr>
      </p:sp>
      <p:sp>
        <p:nvSpPr>
          <p:cNvPr id="6" name="Shape 4"/>
          <p:cNvSpPr/>
          <p:nvPr/>
        </p:nvSpPr>
        <p:spPr>
          <a:xfrm>
            <a:off x="274320" y="1005840"/>
            <a:ext cx="2788920" cy="45720"/>
          </a:xfrm>
          <a:prstGeom prst="rect">
            <a:avLst/>
          </a:prstGeom>
          <a:solidFill>
            <a:srgbClr val="00C2A8"/>
          </a:solidFill>
          <a:ln w="12700">
            <a:solidFill>
              <a:srgbClr val="00C2A8"/>
            </a:solidFill>
            <a:prstDash val="solid"/>
          </a:ln>
        </p:spPr>
      </p:sp>
      <p:pic>
        <p:nvPicPr>
          <p:cNvPr id="7" name="Image 0" descr="preencoded.png">    </p:cNvPr>
          <p:cNvPicPr>
            <a:picLocks noChangeAspect="1"/>
          </p:cNvPicPr>
          <p:nvPr/>
        </p:nvPicPr>
        <p:blipFill>
          <a:blip r:embed="rId1"/>
          <a:stretch>
            <a:fillRect/>
          </a:stretch>
        </p:blipFill>
        <p:spPr>
          <a:xfrm>
            <a:off x="411480" y="1115568"/>
            <a:ext cx="347472" cy="347472"/>
          </a:xfrm>
          <a:prstGeom prst="rect">
            <a:avLst/>
          </a:prstGeom>
        </p:spPr>
      </p:pic>
      <p:sp>
        <p:nvSpPr>
          <p:cNvPr id="8" name="Text 5"/>
          <p:cNvSpPr/>
          <p:nvPr/>
        </p:nvSpPr>
        <p:spPr>
          <a:xfrm>
            <a:off x="822960" y="1097280"/>
            <a:ext cx="2103120" cy="384048"/>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Data Collection</a:t>
            </a:r>
            <a:endParaRPr lang="en-US" sz="1200" dirty="0"/>
          </a:p>
        </p:txBody>
      </p:sp>
      <p:pic>
        <p:nvPicPr>
          <p:cNvPr id="9" name="Image 1" descr="preencoded.png">    </p:cNvPr>
          <p:cNvPicPr>
            <a:picLocks noChangeAspect="1"/>
          </p:cNvPicPr>
          <p:nvPr/>
        </p:nvPicPr>
        <p:blipFill>
          <a:blip r:embed="rId2"/>
          <a:stretch>
            <a:fillRect/>
          </a:stretch>
        </p:blipFill>
        <p:spPr>
          <a:xfrm>
            <a:off x="384048" y="1572768"/>
            <a:ext cx="201168" cy="201168"/>
          </a:xfrm>
          <a:prstGeom prst="rect">
            <a:avLst/>
          </a:prstGeom>
        </p:spPr>
      </p:pic>
      <p:sp>
        <p:nvSpPr>
          <p:cNvPr id="10" name="Text 6"/>
          <p:cNvSpPr/>
          <p:nvPr/>
        </p:nvSpPr>
        <p:spPr>
          <a:xfrm>
            <a:off x="658368" y="1536192"/>
            <a:ext cx="2331720" cy="347472"/>
          </a:xfrm>
          <a:prstGeom prst="rect">
            <a:avLst/>
          </a:prstGeom>
          <a:noFill/>
          <a:ln/>
        </p:spPr>
        <p:txBody>
          <a:bodyPr wrap="square" rtlCol="0" anchor="ctr"/>
          <a:lstStyle/>
          <a:p>
            <a:pPr indent="0" marL="0">
              <a:buNone/>
            </a:pPr>
            <a:r>
              <a:rPr lang="en-US" sz="1000" dirty="0">
                <a:solidFill>
                  <a:srgbClr val="8FAAC3"/>
                </a:solidFill>
                <a:latin typeface="Calibri" pitchFamily="34" charset="0"/>
                <a:ea typeface="Calibri" pitchFamily="34" charset="-122"/>
                <a:cs typeface="Calibri" pitchFamily="34" charset="-120"/>
              </a:rPr>
              <a:t>yfinance — Yahoo Finance OHLCV data</a:t>
            </a:r>
            <a:endParaRPr lang="en-US" sz="1000" dirty="0"/>
          </a:p>
        </p:txBody>
      </p:sp>
      <p:pic>
        <p:nvPicPr>
          <p:cNvPr id="11" name="Image 2" descr="preencoded.png">    </p:cNvPr>
          <p:cNvPicPr>
            <a:picLocks noChangeAspect="1"/>
          </p:cNvPicPr>
          <p:nvPr/>
        </p:nvPicPr>
        <p:blipFill>
          <a:blip r:embed="rId3"/>
          <a:stretch>
            <a:fillRect/>
          </a:stretch>
        </p:blipFill>
        <p:spPr>
          <a:xfrm>
            <a:off x="384048" y="1965960"/>
            <a:ext cx="201168" cy="201168"/>
          </a:xfrm>
          <a:prstGeom prst="rect">
            <a:avLst/>
          </a:prstGeom>
        </p:spPr>
      </p:pic>
      <p:sp>
        <p:nvSpPr>
          <p:cNvPr id="12" name="Text 7"/>
          <p:cNvSpPr/>
          <p:nvPr/>
        </p:nvSpPr>
        <p:spPr>
          <a:xfrm>
            <a:off x="658368" y="1929384"/>
            <a:ext cx="2331720" cy="347472"/>
          </a:xfrm>
          <a:prstGeom prst="rect">
            <a:avLst/>
          </a:prstGeom>
          <a:noFill/>
          <a:ln/>
        </p:spPr>
        <p:txBody>
          <a:bodyPr wrap="square" rtlCol="0" anchor="ctr"/>
          <a:lstStyle/>
          <a:p>
            <a:pPr indent="0" marL="0">
              <a:buNone/>
            </a:pPr>
            <a:r>
              <a:rPr lang="en-US" sz="1000" dirty="0">
                <a:solidFill>
                  <a:srgbClr val="8FAAC3"/>
                </a:solidFill>
                <a:latin typeface="Calibri" pitchFamily="34" charset="0"/>
                <a:ea typeface="Calibri" pitchFamily="34" charset="-122"/>
                <a:cs typeface="Calibri" pitchFamily="34" charset="-120"/>
              </a:rPr>
              <a:t>pandas — data manipulation &amp; preprocessing</a:t>
            </a:r>
            <a:endParaRPr lang="en-US" sz="1000" dirty="0"/>
          </a:p>
        </p:txBody>
      </p:sp>
      <p:pic>
        <p:nvPicPr>
          <p:cNvPr id="13" name="Image 3" descr="preencoded.png">    </p:cNvPr>
          <p:cNvPicPr>
            <a:picLocks noChangeAspect="1"/>
          </p:cNvPicPr>
          <p:nvPr/>
        </p:nvPicPr>
        <p:blipFill>
          <a:blip r:embed="rId4"/>
          <a:stretch>
            <a:fillRect/>
          </a:stretch>
        </p:blipFill>
        <p:spPr>
          <a:xfrm>
            <a:off x="384048" y="2359152"/>
            <a:ext cx="201168" cy="201168"/>
          </a:xfrm>
          <a:prstGeom prst="rect">
            <a:avLst/>
          </a:prstGeom>
        </p:spPr>
      </p:pic>
      <p:sp>
        <p:nvSpPr>
          <p:cNvPr id="14" name="Text 8"/>
          <p:cNvSpPr/>
          <p:nvPr/>
        </p:nvSpPr>
        <p:spPr>
          <a:xfrm>
            <a:off x="658368" y="2322576"/>
            <a:ext cx="2331720" cy="347472"/>
          </a:xfrm>
          <a:prstGeom prst="rect">
            <a:avLst/>
          </a:prstGeom>
          <a:noFill/>
          <a:ln/>
        </p:spPr>
        <p:txBody>
          <a:bodyPr wrap="square" rtlCol="0" anchor="ctr"/>
          <a:lstStyle/>
          <a:p>
            <a:pPr indent="0" marL="0">
              <a:buNone/>
            </a:pPr>
            <a:r>
              <a:rPr lang="en-US" sz="1000" dirty="0">
                <a:solidFill>
                  <a:srgbClr val="8FAAC3"/>
                </a:solidFill>
                <a:latin typeface="Calibri" pitchFamily="34" charset="0"/>
                <a:ea typeface="Calibri" pitchFamily="34" charset="-122"/>
                <a:cs typeface="Calibri" pitchFamily="34" charset="-120"/>
              </a:rPr>
              <a:t>NewsAPI — news sentiment (stretch goal)</a:t>
            </a:r>
            <a:endParaRPr lang="en-US" sz="1000" dirty="0"/>
          </a:p>
        </p:txBody>
      </p:sp>
      <p:sp>
        <p:nvSpPr>
          <p:cNvPr id="15" name="Shape 9"/>
          <p:cNvSpPr/>
          <p:nvPr/>
        </p:nvSpPr>
        <p:spPr>
          <a:xfrm>
            <a:off x="3200400" y="1005840"/>
            <a:ext cx="2788920" cy="1874520"/>
          </a:xfrm>
          <a:prstGeom prst="rect">
            <a:avLst/>
          </a:prstGeom>
          <a:solidFill>
            <a:srgbClr val="112240"/>
          </a:solidFill>
          <a:ln w="12700">
            <a:solidFill>
              <a:srgbClr val="1A3A5C"/>
            </a:solidFill>
            <a:prstDash val="solid"/>
          </a:ln>
        </p:spPr>
      </p:sp>
      <p:sp>
        <p:nvSpPr>
          <p:cNvPr id="16" name="Shape 10"/>
          <p:cNvSpPr/>
          <p:nvPr/>
        </p:nvSpPr>
        <p:spPr>
          <a:xfrm>
            <a:off x="3200400" y="1005840"/>
            <a:ext cx="2788920" cy="45720"/>
          </a:xfrm>
          <a:prstGeom prst="rect">
            <a:avLst/>
          </a:prstGeom>
          <a:solidFill>
            <a:srgbClr val="00C2A8"/>
          </a:solidFill>
          <a:ln w="12700">
            <a:solidFill>
              <a:srgbClr val="00C2A8"/>
            </a:solidFill>
            <a:prstDash val="solid"/>
          </a:ln>
        </p:spPr>
      </p:sp>
      <p:pic>
        <p:nvPicPr>
          <p:cNvPr id="17" name="Image 4" descr="preencoded.png">    </p:cNvPr>
          <p:cNvPicPr>
            <a:picLocks noChangeAspect="1"/>
          </p:cNvPicPr>
          <p:nvPr/>
        </p:nvPicPr>
        <p:blipFill>
          <a:blip r:embed="rId5"/>
          <a:stretch>
            <a:fillRect/>
          </a:stretch>
        </p:blipFill>
        <p:spPr>
          <a:xfrm>
            <a:off x="3337560" y="1115568"/>
            <a:ext cx="347472" cy="347472"/>
          </a:xfrm>
          <a:prstGeom prst="rect">
            <a:avLst/>
          </a:prstGeom>
        </p:spPr>
      </p:pic>
      <p:sp>
        <p:nvSpPr>
          <p:cNvPr id="18" name="Text 11"/>
          <p:cNvSpPr/>
          <p:nvPr/>
        </p:nvSpPr>
        <p:spPr>
          <a:xfrm>
            <a:off x="3749040" y="1097280"/>
            <a:ext cx="2103120" cy="384048"/>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Feature Engineering</a:t>
            </a:r>
            <a:endParaRPr lang="en-US" sz="1200" dirty="0"/>
          </a:p>
        </p:txBody>
      </p:sp>
      <p:pic>
        <p:nvPicPr>
          <p:cNvPr id="19" name="Image 5" descr="preencoded.png">    </p:cNvPr>
          <p:cNvPicPr>
            <a:picLocks noChangeAspect="1"/>
          </p:cNvPicPr>
          <p:nvPr/>
        </p:nvPicPr>
        <p:blipFill>
          <a:blip r:embed="rId6"/>
          <a:stretch>
            <a:fillRect/>
          </a:stretch>
        </p:blipFill>
        <p:spPr>
          <a:xfrm>
            <a:off x="3310128" y="1572768"/>
            <a:ext cx="201168" cy="201168"/>
          </a:xfrm>
          <a:prstGeom prst="rect">
            <a:avLst/>
          </a:prstGeom>
        </p:spPr>
      </p:pic>
      <p:sp>
        <p:nvSpPr>
          <p:cNvPr id="20" name="Text 12"/>
          <p:cNvSpPr/>
          <p:nvPr/>
        </p:nvSpPr>
        <p:spPr>
          <a:xfrm>
            <a:off x="3584448" y="1536192"/>
            <a:ext cx="2331720" cy="347472"/>
          </a:xfrm>
          <a:prstGeom prst="rect">
            <a:avLst/>
          </a:prstGeom>
          <a:noFill/>
          <a:ln/>
        </p:spPr>
        <p:txBody>
          <a:bodyPr wrap="square" rtlCol="0" anchor="ctr"/>
          <a:lstStyle/>
          <a:p>
            <a:pPr indent="0" marL="0">
              <a:buNone/>
            </a:pPr>
            <a:r>
              <a:rPr lang="en-US" sz="1000" dirty="0">
                <a:solidFill>
                  <a:srgbClr val="8FAAC3"/>
                </a:solidFill>
                <a:latin typeface="Calibri" pitchFamily="34" charset="0"/>
                <a:ea typeface="Calibri" pitchFamily="34" charset="-122"/>
                <a:cs typeface="Calibri" pitchFamily="34" charset="-120"/>
              </a:rPr>
              <a:t>Moving Averages (20-day, 50-day)</a:t>
            </a:r>
            <a:endParaRPr lang="en-US" sz="1000" dirty="0"/>
          </a:p>
        </p:txBody>
      </p:sp>
      <p:pic>
        <p:nvPicPr>
          <p:cNvPr id="21" name="Image 6" descr="preencoded.png">    </p:cNvPr>
          <p:cNvPicPr>
            <a:picLocks noChangeAspect="1"/>
          </p:cNvPicPr>
          <p:nvPr/>
        </p:nvPicPr>
        <p:blipFill>
          <a:blip r:embed="rId7"/>
          <a:stretch>
            <a:fillRect/>
          </a:stretch>
        </p:blipFill>
        <p:spPr>
          <a:xfrm>
            <a:off x="3310128" y="1965960"/>
            <a:ext cx="201168" cy="201168"/>
          </a:xfrm>
          <a:prstGeom prst="rect">
            <a:avLst/>
          </a:prstGeom>
        </p:spPr>
      </p:pic>
      <p:sp>
        <p:nvSpPr>
          <p:cNvPr id="22" name="Text 13"/>
          <p:cNvSpPr/>
          <p:nvPr/>
        </p:nvSpPr>
        <p:spPr>
          <a:xfrm>
            <a:off x="3584448" y="1929384"/>
            <a:ext cx="2331720" cy="347472"/>
          </a:xfrm>
          <a:prstGeom prst="rect">
            <a:avLst/>
          </a:prstGeom>
          <a:noFill/>
          <a:ln/>
        </p:spPr>
        <p:txBody>
          <a:bodyPr wrap="square" rtlCol="0" anchor="ctr"/>
          <a:lstStyle/>
          <a:p>
            <a:pPr indent="0" marL="0">
              <a:buNone/>
            </a:pPr>
            <a:r>
              <a:rPr lang="en-US" sz="1000" dirty="0">
                <a:solidFill>
                  <a:srgbClr val="8FAAC3"/>
                </a:solidFill>
                <a:latin typeface="Calibri" pitchFamily="34" charset="0"/>
                <a:ea typeface="Calibri" pitchFamily="34" charset="-122"/>
                <a:cs typeface="Calibri" pitchFamily="34" charset="-120"/>
              </a:rPr>
              <a:t>RSI, MACD, Bollinger Bands</a:t>
            </a:r>
            <a:endParaRPr lang="en-US" sz="1000" dirty="0"/>
          </a:p>
        </p:txBody>
      </p:sp>
      <p:pic>
        <p:nvPicPr>
          <p:cNvPr id="23" name="Image 7" descr="preencoded.png">    </p:cNvPr>
          <p:cNvPicPr>
            <a:picLocks noChangeAspect="1"/>
          </p:cNvPicPr>
          <p:nvPr/>
        </p:nvPicPr>
        <p:blipFill>
          <a:blip r:embed="rId8"/>
          <a:stretch>
            <a:fillRect/>
          </a:stretch>
        </p:blipFill>
        <p:spPr>
          <a:xfrm>
            <a:off x="3310128" y="2359152"/>
            <a:ext cx="201168" cy="201168"/>
          </a:xfrm>
          <a:prstGeom prst="rect">
            <a:avLst/>
          </a:prstGeom>
        </p:spPr>
      </p:pic>
      <p:sp>
        <p:nvSpPr>
          <p:cNvPr id="24" name="Text 14"/>
          <p:cNvSpPr/>
          <p:nvPr/>
        </p:nvSpPr>
        <p:spPr>
          <a:xfrm>
            <a:off x="3584448" y="2322576"/>
            <a:ext cx="2331720" cy="347472"/>
          </a:xfrm>
          <a:prstGeom prst="rect">
            <a:avLst/>
          </a:prstGeom>
          <a:noFill/>
          <a:ln/>
        </p:spPr>
        <p:txBody>
          <a:bodyPr wrap="square" rtlCol="0" anchor="ctr"/>
          <a:lstStyle/>
          <a:p>
            <a:pPr indent="0" marL="0">
              <a:buNone/>
            </a:pPr>
            <a:r>
              <a:rPr lang="en-US" sz="1000" dirty="0">
                <a:solidFill>
                  <a:srgbClr val="8FAAC3"/>
                </a:solidFill>
                <a:latin typeface="Calibri" pitchFamily="34" charset="0"/>
                <a:ea typeface="Calibri" pitchFamily="34" charset="-122"/>
                <a:cs typeface="Calibri" pitchFamily="34" charset="-120"/>
              </a:rPr>
              <a:t>Volume Ratio, Price Momentum (1d/5d/20d)</a:t>
            </a:r>
            <a:endParaRPr lang="en-US" sz="1000" dirty="0"/>
          </a:p>
        </p:txBody>
      </p:sp>
      <p:sp>
        <p:nvSpPr>
          <p:cNvPr id="25" name="Shape 15"/>
          <p:cNvSpPr/>
          <p:nvPr/>
        </p:nvSpPr>
        <p:spPr>
          <a:xfrm>
            <a:off x="6126480" y="1005840"/>
            <a:ext cx="2788920" cy="1874520"/>
          </a:xfrm>
          <a:prstGeom prst="rect">
            <a:avLst/>
          </a:prstGeom>
          <a:solidFill>
            <a:srgbClr val="112240"/>
          </a:solidFill>
          <a:ln w="12700">
            <a:solidFill>
              <a:srgbClr val="1A3A5C"/>
            </a:solidFill>
            <a:prstDash val="solid"/>
          </a:ln>
        </p:spPr>
      </p:sp>
      <p:sp>
        <p:nvSpPr>
          <p:cNvPr id="26" name="Shape 16"/>
          <p:cNvSpPr/>
          <p:nvPr/>
        </p:nvSpPr>
        <p:spPr>
          <a:xfrm>
            <a:off x="6126480" y="1005840"/>
            <a:ext cx="2788920" cy="45720"/>
          </a:xfrm>
          <a:prstGeom prst="rect">
            <a:avLst/>
          </a:prstGeom>
          <a:solidFill>
            <a:srgbClr val="FFD166"/>
          </a:solidFill>
          <a:ln w="12700">
            <a:solidFill>
              <a:srgbClr val="FFD166"/>
            </a:solidFill>
            <a:prstDash val="solid"/>
          </a:ln>
        </p:spPr>
      </p:sp>
      <p:pic>
        <p:nvPicPr>
          <p:cNvPr id="27" name="Image 8" descr="preencoded.png">    </p:cNvPr>
          <p:cNvPicPr>
            <a:picLocks noChangeAspect="1"/>
          </p:cNvPicPr>
          <p:nvPr/>
        </p:nvPicPr>
        <p:blipFill>
          <a:blip r:embed="rId9"/>
          <a:stretch>
            <a:fillRect/>
          </a:stretch>
        </p:blipFill>
        <p:spPr>
          <a:xfrm>
            <a:off x="6263640" y="1115568"/>
            <a:ext cx="347472" cy="347472"/>
          </a:xfrm>
          <a:prstGeom prst="rect">
            <a:avLst/>
          </a:prstGeom>
        </p:spPr>
      </p:pic>
      <p:sp>
        <p:nvSpPr>
          <p:cNvPr id="28" name="Text 17"/>
          <p:cNvSpPr/>
          <p:nvPr/>
        </p:nvSpPr>
        <p:spPr>
          <a:xfrm>
            <a:off x="6675120" y="1097280"/>
            <a:ext cx="2103120" cy="384048"/>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Machine Learning</a:t>
            </a:r>
            <a:endParaRPr lang="en-US" sz="1200" dirty="0"/>
          </a:p>
        </p:txBody>
      </p:sp>
      <p:pic>
        <p:nvPicPr>
          <p:cNvPr id="29" name="Image 9" descr="preencoded.png">    </p:cNvPr>
          <p:cNvPicPr>
            <a:picLocks noChangeAspect="1"/>
          </p:cNvPicPr>
          <p:nvPr/>
        </p:nvPicPr>
        <p:blipFill>
          <a:blip r:embed="rId10"/>
          <a:stretch>
            <a:fillRect/>
          </a:stretch>
        </p:blipFill>
        <p:spPr>
          <a:xfrm>
            <a:off x="6236208" y="1572768"/>
            <a:ext cx="201168" cy="201168"/>
          </a:xfrm>
          <a:prstGeom prst="rect">
            <a:avLst/>
          </a:prstGeom>
        </p:spPr>
      </p:pic>
      <p:sp>
        <p:nvSpPr>
          <p:cNvPr id="30" name="Text 18"/>
          <p:cNvSpPr/>
          <p:nvPr/>
        </p:nvSpPr>
        <p:spPr>
          <a:xfrm>
            <a:off x="6510528" y="1536192"/>
            <a:ext cx="2331720" cy="347472"/>
          </a:xfrm>
          <a:prstGeom prst="rect">
            <a:avLst/>
          </a:prstGeom>
          <a:noFill/>
          <a:ln/>
        </p:spPr>
        <p:txBody>
          <a:bodyPr wrap="square" rtlCol="0" anchor="ctr"/>
          <a:lstStyle/>
          <a:p>
            <a:pPr indent="0" marL="0">
              <a:buNone/>
            </a:pPr>
            <a:r>
              <a:rPr lang="en-US" sz="1000" dirty="0">
                <a:solidFill>
                  <a:srgbClr val="8FAAC3"/>
                </a:solidFill>
                <a:latin typeface="Calibri" pitchFamily="34" charset="0"/>
                <a:ea typeface="Calibri" pitchFamily="34" charset="-122"/>
                <a:cs typeface="Calibri" pitchFamily="34" charset="-120"/>
              </a:rPr>
              <a:t>scikit-learn: Random Forest (baseline)</a:t>
            </a:r>
            <a:endParaRPr lang="en-US" sz="1000" dirty="0"/>
          </a:p>
        </p:txBody>
      </p:sp>
      <p:pic>
        <p:nvPicPr>
          <p:cNvPr id="31" name="Image 10" descr="preencoded.png">    </p:cNvPr>
          <p:cNvPicPr>
            <a:picLocks noChangeAspect="1"/>
          </p:cNvPicPr>
          <p:nvPr/>
        </p:nvPicPr>
        <p:blipFill>
          <a:blip r:embed="rId11"/>
          <a:stretch>
            <a:fillRect/>
          </a:stretch>
        </p:blipFill>
        <p:spPr>
          <a:xfrm>
            <a:off x="6236208" y="1965960"/>
            <a:ext cx="201168" cy="201168"/>
          </a:xfrm>
          <a:prstGeom prst="rect">
            <a:avLst/>
          </a:prstGeom>
        </p:spPr>
      </p:pic>
      <p:sp>
        <p:nvSpPr>
          <p:cNvPr id="32" name="Text 19"/>
          <p:cNvSpPr/>
          <p:nvPr/>
        </p:nvSpPr>
        <p:spPr>
          <a:xfrm>
            <a:off x="6510528" y="1929384"/>
            <a:ext cx="2331720" cy="347472"/>
          </a:xfrm>
          <a:prstGeom prst="rect">
            <a:avLst/>
          </a:prstGeom>
          <a:noFill/>
          <a:ln/>
        </p:spPr>
        <p:txBody>
          <a:bodyPr wrap="square" rtlCol="0" anchor="ctr"/>
          <a:lstStyle/>
          <a:p>
            <a:pPr indent="0" marL="0">
              <a:buNone/>
            </a:pPr>
            <a:r>
              <a:rPr lang="en-US" sz="1000" dirty="0">
                <a:solidFill>
                  <a:srgbClr val="8FAAC3"/>
                </a:solidFill>
                <a:latin typeface="Calibri" pitchFamily="34" charset="0"/>
                <a:ea typeface="Calibri" pitchFamily="34" charset="-122"/>
                <a:cs typeface="Calibri" pitchFamily="34" charset="-120"/>
              </a:rPr>
              <a:t>TensorFlow/Keras: LSTM (main focus)</a:t>
            </a:r>
            <a:endParaRPr lang="en-US" sz="1000" dirty="0"/>
          </a:p>
        </p:txBody>
      </p:sp>
      <p:pic>
        <p:nvPicPr>
          <p:cNvPr id="33" name="Image 11" descr="preencoded.png">    </p:cNvPr>
          <p:cNvPicPr>
            <a:picLocks noChangeAspect="1"/>
          </p:cNvPicPr>
          <p:nvPr/>
        </p:nvPicPr>
        <p:blipFill>
          <a:blip r:embed="rId12"/>
          <a:stretch>
            <a:fillRect/>
          </a:stretch>
        </p:blipFill>
        <p:spPr>
          <a:xfrm>
            <a:off x="6236208" y="2359152"/>
            <a:ext cx="201168" cy="201168"/>
          </a:xfrm>
          <a:prstGeom prst="rect">
            <a:avLst/>
          </a:prstGeom>
        </p:spPr>
      </p:pic>
      <p:sp>
        <p:nvSpPr>
          <p:cNvPr id="34" name="Text 20"/>
          <p:cNvSpPr/>
          <p:nvPr/>
        </p:nvSpPr>
        <p:spPr>
          <a:xfrm>
            <a:off x="6510528" y="2322576"/>
            <a:ext cx="2331720" cy="347472"/>
          </a:xfrm>
          <a:prstGeom prst="rect">
            <a:avLst/>
          </a:prstGeom>
          <a:noFill/>
          <a:ln/>
        </p:spPr>
        <p:txBody>
          <a:bodyPr wrap="square" rtlCol="0" anchor="ctr"/>
          <a:lstStyle/>
          <a:p>
            <a:pPr indent="0" marL="0">
              <a:buNone/>
            </a:pPr>
            <a:r>
              <a:rPr lang="en-US" sz="1000" dirty="0">
                <a:solidFill>
                  <a:srgbClr val="8FAAC3"/>
                </a:solidFill>
                <a:latin typeface="Calibri" pitchFamily="34" charset="0"/>
                <a:ea typeface="Calibri" pitchFamily="34" charset="-122"/>
                <a:cs typeface="Calibri" pitchFamily="34" charset="-120"/>
              </a:rPr>
              <a:t>stable-baselines3: RL (stretch goal)</a:t>
            </a:r>
            <a:endParaRPr lang="en-US" sz="1000" dirty="0"/>
          </a:p>
        </p:txBody>
      </p:sp>
      <p:sp>
        <p:nvSpPr>
          <p:cNvPr id="35" name="Shape 21"/>
          <p:cNvSpPr/>
          <p:nvPr/>
        </p:nvSpPr>
        <p:spPr>
          <a:xfrm>
            <a:off x="274320" y="3017520"/>
            <a:ext cx="2788920" cy="1874520"/>
          </a:xfrm>
          <a:prstGeom prst="rect">
            <a:avLst/>
          </a:prstGeom>
          <a:solidFill>
            <a:srgbClr val="112240"/>
          </a:solidFill>
          <a:ln w="12700">
            <a:solidFill>
              <a:srgbClr val="1A3A5C"/>
            </a:solidFill>
            <a:prstDash val="solid"/>
          </a:ln>
        </p:spPr>
      </p:sp>
      <p:sp>
        <p:nvSpPr>
          <p:cNvPr id="36" name="Shape 22"/>
          <p:cNvSpPr/>
          <p:nvPr/>
        </p:nvSpPr>
        <p:spPr>
          <a:xfrm>
            <a:off x="274320" y="3017520"/>
            <a:ext cx="2788920" cy="45720"/>
          </a:xfrm>
          <a:prstGeom prst="rect">
            <a:avLst/>
          </a:prstGeom>
          <a:solidFill>
            <a:srgbClr val="00C2A8"/>
          </a:solidFill>
          <a:ln w="12700">
            <a:solidFill>
              <a:srgbClr val="00C2A8"/>
            </a:solidFill>
            <a:prstDash val="solid"/>
          </a:ln>
        </p:spPr>
      </p:sp>
      <p:pic>
        <p:nvPicPr>
          <p:cNvPr id="37" name="Image 12" descr="preencoded.png">    </p:cNvPr>
          <p:cNvPicPr>
            <a:picLocks noChangeAspect="1"/>
          </p:cNvPicPr>
          <p:nvPr/>
        </p:nvPicPr>
        <p:blipFill>
          <a:blip r:embed="rId13"/>
          <a:stretch>
            <a:fillRect/>
          </a:stretch>
        </p:blipFill>
        <p:spPr>
          <a:xfrm>
            <a:off x="411480" y="3127248"/>
            <a:ext cx="347472" cy="347472"/>
          </a:xfrm>
          <a:prstGeom prst="rect">
            <a:avLst/>
          </a:prstGeom>
        </p:spPr>
      </p:pic>
      <p:sp>
        <p:nvSpPr>
          <p:cNvPr id="38" name="Text 23"/>
          <p:cNvSpPr/>
          <p:nvPr/>
        </p:nvSpPr>
        <p:spPr>
          <a:xfrm>
            <a:off x="822960" y="3108960"/>
            <a:ext cx="2103120" cy="384048"/>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Backtesting &amp; Evaluation</a:t>
            </a:r>
            <a:endParaRPr lang="en-US" sz="1200" dirty="0"/>
          </a:p>
        </p:txBody>
      </p:sp>
      <p:pic>
        <p:nvPicPr>
          <p:cNvPr id="39" name="Image 13" descr="preencoded.png">    </p:cNvPr>
          <p:cNvPicPr>
            <a:picLocks noChangeAspect="1"/>
          </p:cNvPicPr>
          <p:nvPr/>
        </p:nvPicPr>
        <p:blipFill>
          <a:blip r:embed="rId14"/>
          <a:stretch>
            <a:fillRect/>
          </a:stretch>
        </p:blipFill>
        <p:spPr>
          <a:xfrm>
            <a:off x="384048" y="3584448"/>
            <a:ext cx="201168" cy="201168"/>
          </a:xfrm>
          <a:prstGeom prst="rect">
            <a:avLst/>
          </a:prstGeom>
        </p:spPr>
      </p:pic>
      <p:sp>
        <p:nvSpPr>
          <p:cNvPr id="40" name="Text 24"/>
          <p:cNvSpPr/>
          <p:nvPr/>
        </p:nvSpPr>
        <p:spPr>
          <a:xfrm>
            <a:off x="658368" y="3547872"/>
            <a:ext cx="2331720" cy="347472"/>
          </a:xfrm>
          <a:prstGeom prst="rect">
            <a:avLst/>
          </a:prstGeom>
          <a:noFill/>
          <a:ln/>
        </p:spPr>
        <p:txBody>
          <a:bodyPr wrap="square" rtlCol="0" anchor="ctr"/>
          <a:lstStyle/>
          <a:p>
            <a:pPr indent="0" marL="0">
              <a:buNone/>
            </a:pPr>
            <a:r>
              <a:rPr lang="en-US" sz="1000" dirty="0">
                <a:solidFill>
                  <a:srgbClr val="8FAAC3"/>
                </a:solidFill>
                <a:latin typeface="Calibri" pitchFamily="34" charset="0"/>
                <a:ea typeface="Calibri" pitchFamily="34" charset="-122"/>
                <a:cs typeface="Calibri" pitchFamily="34" charset="-120"/>
              </a:rPr>
              <a:t>Custom backtesting framework</a:t>
            </a:r>
            <a:endParaRPr lang="en-US" sz="1000" dirty="0"/>
          </a:p>
        </p:txBody>
      </p:sp>
      <p:pic>
        <p:nvPicPr>
          <p:cNvPr id="41" name="Image 14" descr="preencoded.png">    </p:cNvPr>
          <p:cNvPicPr>
            <a:picLocks noChangeAspect="1"/>
          </p:cNvPicPr>
          <p:nvPr/>
        </p:nvPicPr>
        <p:blipFill>
          <a:blip r:embed="rId15"/>
          <a:stretch>
            <a:fillRect/>
          </a:stretch>
        </p:blipFill>
        <p:spPr>
          <a:xfrm>
            <a:off x="384048" y="3977640"/>
            <a:ext cx="201168" cy="201168"/>
          </a:xfrm>
          <a:prstGeom prst="rect">
            <a:avLst/>
          </a:prstGeom>
        </p:spPr>
      </p:pic>
      <p:sp>
        <p:nvSpPr>
          <p:cNvPr id="42" name="Text 25"/>
          <p:cNvSpPr/>
          <p:nvPr/>
        </p:nvSpPr>
        <p:spPr>
          <a:xfrm>
            <a:off x="658368" y="3941064"/>
            <a:ext cx="2331720" cy="347472"/>
          </a:xfrm>
          <a:prstGeom prst="rect">
            <a:avLst/>
          </a:prstGeom>
          <a:noFill/>
          <a:ln/>
        </p:spPr>
        <p:txBody>
          <a:bodyPr wrap="square" rtlCol="0" anchor="ctr"/>
          <a:lstStyle/>
          <a:p>
            <a:pPr indent="0" marL="0">
              <a:buNone/>
            </a:pPr>
            <a:r>
              <a:rPr lang="en-US" sz="1000" dirty="0">
                <a:solidFill>
                  <a:srgbClr val="8FAAC3"/>
                </a:solidFill>
                <a:latin typeface="Calibri" pitchFamily="34" charset="0"/>
                <a:ea typeface="Calibri" pitchFamily="34" charset="-122"/>
                <a:cs typeface="Calibri" pitchFamily="34" charset="-120"/>
              </a:rPr>
              <a:t>Total Return, Sharpe Ratio, Max Drawdown</a:t>
            </a:r>
            <a:endParaRPr lang="en-US" sz="1000" dirty="0"/>
          </a:p>
        </p:txBody>
      </p:sp>
      <p:pic>
        <p:nvPicPr>
          <p:cNvPr id="43" name="Image 15" descr="preencoded.png">    </p:cNvPr>
          <p:cNvPicPr>
            <a:picLocks noChangeAspect="1"/>
          </p:cNvPicPr>
          <p:nvPr/>
        </p:nvPicPr>
        <p:blipFill>
          <a:blip r:embed="rId16"/>
          <a:stretch>
            <a:fillRect/>
          </a:stretch>
        </p:blipFill>
        <p:spPr>
          <a:xfrm>
            <a:off x="384048" y="4370832"/>
            <a:ext cx="201168" cy="201168"/>
          </a:xfrm>
          <a:prstGeom prst="rect">
            <a:avLst/>
          </a:prstGeom>
        </p:spPr>
      </p:pic>
      <p:sp>
        <p:nvSpPr>
          <p:cNvPr id="44" name="Text 26"/>
          <p:cNvSpPr/>
          <p:nvPr/>
        </p:nvSpPr>
        <p:spPr>
          <a:xfrm>
            <a:off x="658368" y="4334256"/>
            <a:ext cx="2331720" cy="347472"/>
          </a:xfrm>
          <a:prstGeom prst="rect">
            <a:avLst/>
          </a:prstGeom>
          <a:noFill/>
          <a:ln/>
        </p:spPr>
        <p:txBody>
          <a:bodyPr wrap="square" rtlCol="0" anchor="ctr"/>
          <a:lstStyle/>
          <a:p>
            <a:pPr indent="0" marL="0">
              <a:buNone/>
            </a:pPr>
            <a:r>
              <a:rPr lang="en-US" sz="1000" dirty="0">
                <a:solidFill>
                  <a:srgbClr val="8FAAC3"/>
                </a:solidFill>
                <a:latin typeface="Calibri" pitchFamily="34" charset="0"/>
                <a:ea typeface="Calibri" pitchFamily="34" charset="-122"/>
                <a:cs typeface="Calibri" pitchFamily="34" charset="-120"/>
              </a:rPr>
              <a:t>Time-series CV to prevent data leakage</a:t>
            </a:r>
            <a:endParaRPr lang="en-US" sz="1000" dirty="0"/>
          </a:p>
        </p:txBody>
      </p:sp>
      <p:sp>
        <p:nvSpPr>
          <p:cNvPr id="45" name="Shape 27"/>
          <p:cNvSpPr/>
          <p:nvPr/>
        </p:nvSpPr>
        <p:spPr>
          <a:xfrm>
            <a:off x="3200400" y="3017520"/>
            <a:ext cx="2788920" cy="1874520"/>
          </a:xfrm>
          <a:prstGeom prst="rect">
            <a:avLst/>
          </a:prstGeom>
          <a:solidFill>
            <a:srgbClr val="112240"/>
          </a:solidFill>
          <a:ln w="12700">
            <a:solidFill>
              <a:srgbClr val="1A3A5C"/>
            </a:solidFill>
            <a:prstDash val="solid"/>
          </a:ln>
        </p:spPr>
      </p:sp>
      <p:sp>
        <p:nvSpPr>
          <p:cNvPr id="46" name="Shape 28"/>
          <p:cNvSpPr/>
          <p:nvPr/>
        </p:nvSpPr>
        <p:spPr>
          <a:xfrm>
            <a:off x="3200400" y="3017520"/>
            <a:ext cx="2788920" cy="45720"/>
          </a:xfrm>
          <a:prstGeom prst="rect">
            <a:avLst/>
          </a:prstGeom>
          <a:solidFill>
            <a:srgbClr val="FFD166"/>
          </a:solidFill>
          <a:ln w="12700">
            <a:solidFill>
              <a:srgbClr val="FFD166"/>
            </a:solidFill>
            <a:prstDash val="solid"/>
          </a:ln>
        </p:spPr>
      </p:sp>
      <p:pic>
        <p:nvPicPr>
          <p:cNvPr id="47" name="Image 16" descr="preencoded.png">    </p:cNvPr>
          <p:cNvPicPr>
            <a:picLocks noChangeAspect="1"/>
          </p:cNvPicPr>
          <p:nvPr/>
        </p:nvPicPr>
        <p:blipFill>
          <a:blip r:embed="rId17"/>
          <a:stretch>
            <a:fillRect/>
          </a:stretch>
        </p:blipFill>
        <p:spPr>
          <a:xfrm>
            <a:off x="3337560" y="3127248"/>
            <a:ext cx="347472" cy="347472"/>
          </a:xfrm>
          <a:prstGeom prst="rect">
            <a:avLst/>
          </a:prstGeom>
        </p:spPr>
      </p:pic>
      <p:sp>
        <p:nvSpPr>
          <p:cNvPr id="48" name="Text 29"/>
          <p:cNvSpPr/>
          <p:nvPr/>
        </p:nvSpPr>
        <p:spPr>
          <a:xfrm>
            <a:off x="3749040" y="3108960"/>
            <a:ext cx="2103120" cy="384048"/>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Explainability</a:t>
            </a:r>
            <a:endParaRPr lang="en-US" sz="1200" dirty="0"/>
          </a:p>
        </p:txBody>
      </p:sp>
      <p:pic>
        <p:nvPicPr>
          <p:cNvPr id="49" name="Image 17" descr="preencoded.png">    </p:cNvPr>
          <p:cNvPicPr>
            <a:picLocks noChangeAspect="1"/>
          </p:cNvPicPr>
          <p:nvPr/>
        </p:nvPicPr>
        <p:blipFill>
          <a:blip r:embed="rId18"/>
          <a:stretch>
            <a:fillRect/>
          </a:stretch>
        </p:blipFill>
        <p:spPr>
          <a:xfrm>
            <a:off x="3310128" y="3584448"/>
            <a:ext cx="201168" cy="201168"/>
          </a:xfrm>
          <a:prstGeom prst="rect">
            <a:avLst/>
          </a:prstGeom>
        </p:spPr>
      </p:pic>
      <p:sp>
        <p:nvSpPr>
          <p:cNvPr id="50" name="Text 30"/>
          <p:cNvSpPr/>
          <p:nvPr/>
        </p:nvSpPr>
        <p:spPr>
          <a:xfrm>
            <a:off x="3584448" y="3547872"/>
            <a:ext cx="2331720" cy="347472"/>
          </a:xfrm>
          <a:prstGeom prst="rect">
            <a:avLst/>
          </a:prstGeom>
          <a:noFill/>
          <a:ln/>
        </p:spPr>
        <p:txBody>
          <a:bodyPr wrap="square" rtlCol="0" anchor="ctr"/>
          <a:lstStyle/>
          <a:p>
            <a:pPr indent="0" marL="0">
              <a:buNone/>
            </a:pPr>
            <a:r>
              <a:rPr lang="en-US" sz="1000" dirty="0">
                <a:solidFill>
                  <a:srgbClr val="8FAAC3"/>
                </a:solidFill>
                <a:latin typeface="Calibri" pitchFamily="34" charset="0"/>
                <a:ea typeface="Calibri" pitchFamily="34" charset="-122"/>
                <a:cs typeface="Calibri" pitchFamily="34" charset="-120"/>
              </a:rPr>
              <a:t>SHAP values — feature importance</a:t>
            </a:r>
            <a:endParaRPr lang="en-US" sz="1000" dirty="0"/>
          </a:p>
        </p:txBody>
      </p:sp>
      <p:pic>
        <p:nvPicPr>
          <p:cNvPr id="51" name="Image 18" descr="preencoded.png">    </p:cNvPr>
          <p:cNvPicPr>
            <a:picLocks noChangeAspect="1"/>
          </p:cNvPicPr>
          <p:nvPr/>
        </p:nvPicPr>
        <p:blipFill>
          <a:blip r:embed="rId19"/>
          <a:stretch>
            <a:fillRect/>
          </a:stretch>
        </p:blipFill>
        <p:spPr>
          <a:xfrm>
            <a:off x="3310128" y="3977640"/>
            <a:ext cx="201168" cy="201168"/>
          </a:xfrm>
          <a:prstGeom prst="rect">
            <a:avLst/>
          </a:prstGeom>
        </p:spPr>
      </p:pic>
      <p:sp>
        <p:nvSpPr>
          <p:cNvPr id="52" name="Text 31"/>
          <p:cNvSpPr/>
          <p:nvPr/>
        </p:nvSpPr>
        <p:spPr>
          <a:xfrm>
            <a:off x="3584448" y="3941064"/>
            <a:ext cx="2331720" cy="347472"/>
          </a:xfrm>
          <a:prstGeom prst="rect">
            <a:avLst/>
          </a:prstGeom>
          <a:noFill/>
          <a:ln/>
        </p:spPr>
        <p:txBody>
          <a:bodyPr wrap="square" rtlCol="0" anchor="ctr"/>
          <a:lstStyle/>
          <a:p>
            <a:pPr indent="0" marL="0">
              <a:buNone/>
            </a:pPr>
            <a:r>
              <a:rPr lang="en-US" sz="1000" dirty="0">
                <a:solidFill>
                  <a:srgbClr val="8FAAC3"/>
                </a:solidFill>
                <a:latin typeface="Calibri" pitchFamily="34" charset="0"/>
                <a:ea typeface="Calibri" pitchFamily="34" charset="-122"/>
                <a:cs typeface="Calibri" pitchFamily="34" charset="-120"/>
              </a:rPr>
              <a:t>Plain English explanation generator</a:t>
            </a:r>
            <a:endParaRPr lang="en-US" sz="1000" dirty="0"/>
          </a:p>
        </p:txBody>
      </p:sp>
      <p:pic>
        <p:nvPicPr>
          <p:cNvPr id="53" name="Image 19" descr="preencoded.png">    </p:cNvPr>
          <p:cNvPicPr>
            <a:picLocks noChangeAspect="1"/>
          </p:cNvPicPr>
          <p:nvPr/>
        </p:nvPicPr>
        <p:blipFill>
          <a:blip r:embed="rId20"/>
          <a:stretch>
            <a:fillRect/>
          </a:stretch>
        </p:blipFill>
        <p:spPr>
          <a:xfrm>
            <a:off x="3310128" y="4370832"/>
            <a:ext cx="201168" cy="201168"/>
          </a:xfrm>
          <a:prstGeom prst="rect">
            <a:avLst/>
          </a:prstGeom>
        </p:spPr>
      </p:pic>
      <p:sp>
        <p:nvSpPr>
          <p:cNvPr id="54" name="Text 32"/>
          <p:cNvSpPr/>
          <p:nvPr/>
        </p:nvSpPr>
        <p:spPr>
          <a:xfrm>
            <a:off x="3584448" y="4334256"/>
            <a:ext cx="2331720" cy="347472"/>
          </a:xfrm>
          <a:prstGeom prst="rect">
            <a:avLst/>
          </a:prstGeom>
          <a:noFill/>
          <a:ln/>
        </p:spPr>
        <p:txBody>
          <a:bodyPr wrap="square" rtlCol="0" anchor="ctr"/>
          <a:lstStyle/>
          <a:p>
            <a:pPr indent="0" marL="0">
              <a:buNone/>
            </a:pPr>
            <a:r>
              <a:rPr lang="en-US" sz="1000" dirty="0">
                <a:solidFill>
                  <a:srgbClr val="8FAAC3"/>
                </a:solidFill>
                <a:latin typeface="Calibri" pitchFamily="34" charset="0"/>
                <a:ea typeface="Calibri" pitchFamily="34" charset="-122"/>
                <a:cs typeface="Calibri" pitchFamily="34" charset="-120"/>
              </a:rPr>
              <a:t>Rule-based indicator interpretation</a:t>
            </a:r>
            <a:endParaRPr lang="en-US" sz="1000" dirty="0"/>
          </a:p>
        </p:txBody>
      </p:sp>
      <p:sp>
        <p:nvSpPr>
          <p:cNvPr id="55" name="Shape 33"/>
          <p:cNvSpPr/>
          <p:nvPr/>
        </p:nvSpPr>
        <p:spPr>
          <a:xfrm>
            <a:off x="6126480" y="3017520"/>
            <a:ext cx="2788920" cy="1874520"/>
          </a:xfrm>
          <a:prstGeom prst="rect">
            <a:avLst/>
          </a:prstGeom>
          <a:solidFill>
            <a:srgbClr val="112240"/>
          </a:solidFill>
          <a:ln w="12700">
            <a:solidFill>
              <a:srgbClr val="1A3A5C"/>
            </a:solidFill>
            <a:prstDash val="solid"/>
          </a:ln>
        </p:spPr>
      </p:sp>
      <p:sp>
        <p:nvSpPr>
          <p:cNvPr id="56" name="Shape 34"/>
          <p:cNvSpPr/>
          <p:nvPr/>
        </p:nvSpPr>
        <p:spPr>
          <a:xfrm>
            <a:off x="6126480" y="3017520"/>
            <a:ext cx="2788920" cy="45720"/>
          </a:xfrm>
          <a:prstGeom prst="rect">
            <a:avLst/>
          </a:prstGeom>
          <a:solidFill>
            <a:srgbClr val="00C2A8"/>
          </a:solidFill>
          <a:ln w="12700">
            <a:solidFill>
              <a:srgbClr val="00C2A8"/>
            </a:solidFill>
            <a:prstDash val="solid"/>
          </a:ln>
        </p:spPr>
      </p:sp>
      <p:pic>
        <p:nvPicPr>
          <p:cNvPr id="57" name="Image 20" descr="preencoded.png">    </p:cNvPr>
          <p:cNvPicPr>
            <a:picLocks noChangeAspect="1"/>
          </p:cNvPicPr>
          <p:nvPr/>
        </p:nvPicPr>
        <p:blipFill>
          <a:blip r:embed="rId21"/>
          <a:stretch>
            <a:fillRect/>
          </a:stretch>
        </p:blipFill>
        <p:spPr>
          <a:xfrm>
            <a:off x="6263640" y="3127248"/>
            <a:ext cx="347472" cy="347472"/>
          </a:xfrm>
          <a:prstGeom prst="rect">
            <a:avLst/>
          </a:prstGeom>
        </p:spPr>
      </p:pic>
      <p:sp>
        <p:nvSpPr>
          <p:cNvPr id="58" name="Text 35"/>
          <p:cNvSpPr/>
          <p:nvPr/>
        </p:nvSpPr>
        <p:spPr>
          <a:xfrm>
            <a:off x="6675120" y="3108960"/>
            <a:ext cx="2103120" cy="384048"/>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Web Development</a:t>
            </a:r>
            <a:endParaRPr lang="en-US" sz="1200" dirty="0"/>
          </a:p>
        </p:txBody>
      </p:sp>
      <p:pic>
        <p:nvPicPr>
          <p:cNvPr id="59" name="Image 21" descr="preencoded.png">    </p:cNvPr>
          <p:cNvPicPr>
            <a:picLocks noChangeAspect="1"/>
          </p:cNvPicPr>
          <p:nvPr/>
        </p:nvPicPr>
        <p:blipFill>
          <a:blip r:embed="rId22"/>
          <a:stretch>
            <a:fillRect/>
          </a:stretch>
        </p:blipFill>
        <p:spPr>
          <a:xfrm>
            <a:off x="6236208" y="3584448"/>
            <a:ext cx="201168" cy="201168"/>
          </a:xfrm>
          <a:prstGeom prst="rect">
            <a:avLst/>
          </a:prstGeom>
        </p:spPr>
      </p:pic>
      <p:sp>
        <p:nvSpPr>
          <p:cNvPr id="60" name="Text 36"/>
          <p:cNvSpPr/>
          <p:nvPr/>
        </p:nvSpPr>
        <p:spPr>
          <a:xfrm>
            <a:off x="6510528" y="3547872"/>
            <a:ext cx="2331720" cy="347472"/>
          </a:xfrm>
          <a:prstGeom prst="rect">
            <a:avLst/>
          </a:prstGeom>
          <a:noFill/>
          <a:ln/>
        </p:spPr>
        <p:txBody>
          <a:bodyPr wrap="square" rtlCol="0" anchor="ctr"/>
          <a:lstStyle/>
          <a:p>
            <a:pPr indent="0" marL="0">
              <a:buNone/>
            </a:pPr>
            <a:r>
              <a:rPr lang="en-US" sz="1000" dirty="0">
                <a:solidFill>
                  <a:srgbClr val="8FAAC3"/>
                </a:solidFill>
                <a:latin typeface="Calibri" pitchFamily="34" charset="0"/>
                <a:ea typeface="Calibri" pitchFamily="34" charset="-122"/>
                <a:cs typeface="Calibri" pitchFamily="34" charset="-120"/>
              </a:rPr>
              <a:t>Flask — Python REST API backend</a:t>
            </a:r>
            <a:endParaRPr lang="en-US" sz="1000" dirty="0"/>
          </a:p>
        </p:txBody>
      </p:sp>
      <p:pic>
        <p:nvPicPr>
          <p:cNvPr id="61" name="Image 22" descr="preencoded.png">    </p:cNvPr>
          <p:cNvPicPr>
            <a:picLocks noChangeAspect="1"/>
          </p:cNvPicPr>
          <p:nvPr/>
        </p:nvPicPr>
        <p:blipFill>
          <a:blip r:embed="rId23"/>
          <a:stretch>
            <a:fillRect/>
          </a:stretch>
        </p:blipFill>
        <p:spPr>
          <a:xfrm>
            <a:off x="6236208" y="3977640"/>
            <a:ext cx="201168" cy="201168"/>
          </a:xfrm>
          <a:prstGeom prst="rect">
            <a:avLst/>
          </a:prstGeom>
        </p:spPr>
      </p:pic>
      <p:sp>
        <p:nvSpPr>
          <p:cNvPr id="62" name="Text 37"/>
          <p:cNvSpPr/>
          <p:nvPr/>
        </p:nvSpPr>
        <p:spPr>
          <a:xfrm>
            <a:off x="6510528" y="3941064"/>
            <a:ext cx="2331720" cy="347472"/>
          </a:xfrm>
          <a:prstGeom prst="rect">
            <a:avLst/>
          </a:prstGeom>
          <a:noFill/>
          <a:ln/>
        </p:spPr>
        <p:txBody>
          <a:bodyPr wrap="square" rtlCol="0" anchor="ctr"/>
          <a:lstStyle/>
          <a:p>
            <a:pPr indent="0" marL="0">
              <a:buNone/>
            </a:pPr>
            <a:r>
              <a:rPr lang="en-US" sz="1000" dirty="0">
                <a:solidFill>
                  <a:srgbClr val="8FAAC3"/>
                </a:solidFill>
                <a:latin typeface="Calibri" pitchFamily="34" charset="0"/>
                <a:ea typeface="Calibri" pitchFamily="34" charset="-122"/>
                <a:cs typeface="Calibri" pitchFamily="34" charset="-120"/>
              </a:rPr>
              <a:t>HTML / CSS / JavaScript — frontend</a:t>
            </a:r>
            <a:endParaRPr lang="en-US" sz="1000" dirty="0"/>
          </a:p>
        </p:txBody>
      </p:sp>
      <p:pic>
        <p:nvPicPr>
          <p:cNvPr id="63" name="Image 23" descr="preencoded.png">    </p:cNvPr>
          <p:cNvPicPr>
            <a:picLocks noChangeAspect="1"/>
          </p:cNvPicPr>
          <p:nvPr/>
        </p:nvPicPr>
        <p:blipFill>
          <a:blip r:embed="rId24"/>
          <a:stretch>
            <a:fillRect/>
          </a:stretch>
        </p:blipFill>
        <p:spPr>
          <a:xfrm>
            <a:off x="6236208" y="4370832"/>
            <a:ext cx="201168" cy="201168"/>
          </a:xfrm>
          <a:prstGeom prst="rect">
            <a:avLst/>
          </a:prstGeom>
        </p:spPr>
      </p:pic>
      <p:sp>
        <p:nvSpPr>
          <p:cNvPr id="64" name="Text 38"/>
          <p:cNvSpPr/>
          <p:nvPr/>
        </p:nvSpPr>
        <p:spPr>
          <a:xfrm>
            <a:off x="6510528" y="4334256"/>
            <a:ext cx="2331720" cy="347472"/>
          </a:xfrm>
          <a:prstGeom prst="rect">
            <a:avLst/>
          </a:prstGeom>
          <a:noFill/>
          <a:ln/>
        </p:spPr>
        <p:txBody>
          <a:bodyPr wrap="square" rtlCol="0" anchor="ctr"/>
          <a:lstStyle/>
          <a:p>
            <a:pPr indent="0" marL="0">
              <a:buNone/>
            </a:pPr>
            <a:r>
              <a:rPr lang="en-US" sz="1000" dirty="0">
                <a:solidFill>
                  <a:srgbClr val="8FAAC3"/>
                </a:solidFill>
                <a:latin typeface="Calibri" pitchFamily="34" charset="0"/>
                <a:ea typeface="Calibri" pitchFamily="34" charset="-122"/>
                <a:cs typeface="Calibri" pitchFamily="34" charset="-120"/>
              </a:rPr>
              <a:t>Plotly — interactive stock charts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2137"/>
          </a:solidFill>
          <a:ln w="12700">
            <a:solidFill>
              <a:srgbClr val="0D2137"/>
            </a:solidFill>
            <a:prstDash val="solid"/>
          </a:ln>
        </p:spPr>
      </p:sp>
      <p:sp>
        <p:nvSpPr>
          <p:cNvPr id="3" name="Shape 1"/>
          <p:cNvSpPr/>
          <p:nvPr/>
        </p:nvSpPr>
        <p:spPr>
          <a:xfrm>
            <a:off x="0" y="868680"/>
            <a:ext cx="9144000" cy="45720"/>
          </a:xfrm>
          <a:prstGeom prst="rect">
            <a:avLst/>
          </a:prstGeom>
          <a:solidFill>
            <a:srgbClr val="00C2A8"/>
          </a:solidFill>
          <a:ln w="12700">
            <a:solidFill>
              <a:srgbClr val="00C2A8"/>
            </a:solidFill>
            <a:prstDash val="solid"/>
          </a:ln>
        </p:spPr>
      </p:sp>
      <p:sp>
        <p:nvSpPr>
          <p:cNvPr id="4" name="Text 2"/>
          <p:cNvSpPr/>
          <p:nvPr/>
        </p:nvSpPr>
        <p:spPr>
          <a:xfrm>
            <a:off x="457200" y="0"/>
            <a:ext cx="8229600" cy="91440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MACHINE LEARNING STRATEGY</a:t>
            </a:r>
            <a:endParaRPr lang="en-US" sz="2600" dirty="0"/>
          </a:p>
        </p:txBody>
      </p:sp>
      <p:sp>
        <p:nvSpPr>
          <p:cNvPr id="5" name="Shape 3"/>
          <p:cNvSpPr/>
          <p:nvPr/>
        </p:nvSpPr>
        <p:spPr>
          <a:xfrm>
            <a:off x="320040" y="1005840"/>
            <a:ext cx="2743200" cy="3931920"/>
          </a:xfrm>
          <a:prstGeom prst="rect">
            <a:avLst/>
          </a:prstGeom>
          <a:solidFill>
            <a:srgbClr val="112240"/>
          </a:solidFill>
          <a:ln w="12700">
            <a:solidFill>
              <a:srgbClr val="1A3A5C"/>
            </a:solidFill>
            <a:prstDash val="solid"/>
          </a:ln>
        </p:spPr>
      </p:sp>
      <p:sp>
        <p:nvSpPr>
          <p:cNvPr id="6" name="Shape 4"/>
          <p:cNvSpPr/>
          <p:nvPr/>
        </p:nvSpPr>
        <p:spPr>
          <a:xfrm>
            <a:off x="411480" y="1097280"/>
            <a:ext cx="914400" cy="256032"/>
          </a:xfrm>
          <a:prstGeom prst="rect">
            <a:avLst/>
          </a:prstGeom>
          <a:solidFill>
            <a:srgbClr val="3A5A7A"/>
          </a:solidFill>
          <a:ln w="12700">
            <a:solidFill>
              <a:srgbClr val="3A5A7A"/>
            </a:solidFill>
            <a:prstDash val="solid"/>
          </a:ln>
        </p:spPr>
      </p:sp>
      <p:sp>
        <p:nvSpPr>
          <p:cNvPr id="7" name="Text 5"/>
          <p:cNvSpPr/>
          <p:nvPr/>
        </p:nvSpPr>
        <p:spPr>
          <a:xfrm>
            <a:off x="411480" y="1097280"/>
            <a:ext cx="914400" cy="256032"/>
          </a:xfrm>
          <a:prstGeom prst="rect">
            <a:avLst/>
          </a:prstGeom>
          <a:noFill/>
          <a:ln/>
        </p:spPr>
        <p:txBody>
          <a:bodyPr wrap="square" lIns="0" tIns="0" rIns="0" bIns="0" rtlCol="0" anchor="ctr"/>
          <a:lstStyle/>
          <a:p>
            <a:pPr algn="ctr" indent="0" marL="0">
              <a:buNone/>
            </a:pPr>
            <a:r>
              <a:rPr lang="en-US" sz="800" b="1" dirty="0">
                <a:solidFill>
                  <a:srgbClr val="0A1628"/>
                </a:solidFill>
              </a:rPr>
              <a:t>PHASE 1</a:t>
            </a:r>
            <a:endParaRPr lang="en-US" sz="800" dirty="0"/>
          </a:p>
        </p:txBody>
      </p:sp>
      <p:pic>
        <p:nvPicPr>
          <p:cNvPr id="8" name="Image 0" descr="preencoded.png">    </p:cNvPr>
          <p:cNvPicPr>
            <a:picLocks noChangeAspect="1"/>
          </p:cNvPicPr>
          <p:nvPr/>
        </p:nvPicPr>
        <p:blipFill>
          <a:blip r:embed="rId1"/>
          <a:stretch>
            <a:fillRect/>
          </a:stretch>
        </p:blipFill>
        <p:spPr>
          <a:xfrm>
            <a:off x="1463040" y="1078992"/>
            <a:ext cx="502920" cy="502920"/>
          </a:xfrm>
          <a:prstGeom prst="rect">
            <a:avLst/>
          </a:prstGeom>
        </p:spPr>
      </p:pic>
      <p:sp>
        <p:nvSpPr>
          <p:cNvPr id="9" name="Text 6"/>
          <p:cNvSpPr/>
          <p:nvPr/>
        </p:nvSpPr>
        <p:spPr>
          <a:xfrm>
            <a:off x="429768" y="1691640"/>
            <a:ext cx="2514600" cy="41148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Random Forest</a:t>
            </a:r>
            <a:endParaRPr lang="en-US" sz="1600" dirty="0"/>
          </a:p>
        </p:txBody>
      </p:sp>
      <p:sp>
        <p:nvSpPr>
          <p:cNvPr id="10" name="Text 7"/>
          <p:cNvSpPr/>
          <p:nvPr/>
        </p:nvSpPr>
        <p:spPr>
          <a:xfrm>
            <a:off x="429768" y="2084832"/>
            <a:ext cx="2514600" cy="274320"/>
          </a:xfrm>
          <a:prstGeom prst="rect">
            <a:avLst/>
          </a:prstGeom>
          <a:noFill/>
          <a:ln/>
        </p:spPr>
        <p:txBody>
          <a:bodyPr wrap="square" rtlCol="0" anchor="ctr"/>
          <a:lstStyle/>
          <a:p>
            <a:pPr algn="ctr" indent="0" marL="0">
              <a:buNone/>
            </a:pPr>
            <a:r>
              <a:rPr lang="en-US" sz="1100" dirty="0">
                <a:solidFill>
                  <a:srgbClr val="3A5A7A"/>
                </a:solidFill>
                <a:latin typeface="Calibri" pitchFamily="34" charset="0"/>
                <a:ea typeface="Calibri" pitchFamily="34" charset="-122"/>
                <a:cs typeface="Calibri" pitchFamily="34" charset="-120"/>
              </a:rPr>
              <a:t>Baseline Model</a:t>
            </a:r>
            <a:endParaRPr lang="en-US" sz="1100" dirty="0"/>
          </a:p>
        </p:txBody>
      </p:sp>
      <p:sp>
        <p:nvSpPr>
          <p:cNvPr id="11" name="Shape 8"/>
          <p:cNvSpPr/>
          <p:nvPr/>
        </p:nvSpPr>
        <p:spPr>
          <a:xfrm>
            <a:off x="429768" y="2395728"/>
            <a:ext cx="2514600" cy="27432"/>
          </a:xfrm>
          <a:prstGeom prst="rect">
            <a:avLst/>
          </a:prstGeom>
          <a:solidFill>
            <a:srgbClr val="1A3A5C"/>
          </a:solidFill>
          <a:ln w="12700">
            <a:solidFill>
              <a:srgbClr val="1A3A5C"/>
            </a:solidFill>
            <a:prstDash val="solid"/>
          </a:ln>
        </p:spPr>
      </p:sp>
      <p:pic>
        <p:nvPicPr>
          <p:cNvPr id="12" name="Image 1" descr="preencoded.png">    </p:cNvPr>
          <p:cNvPicPr>
            <a:picLocks noChangeAspect="1"/>
          </p:cNvPicPr>
          <p:nvPr/>
        </p:nvPicPr>
        <p:blipFill>
          <a:blip r:embed="rId2"/>
          <a:stretch>
            <a:fillRect/>
          </a:stretch>
        </p:blipFill>
        <p:spPr>
          <a:xfrm>
            <a:off x="484632" y="2514600"/>
            <a:ext cx="201168" cy="201168"/>
          </a:xfrm>
          <a:prstGeom prst="rect">
            <a:avLst/>
          </a:prstGeom>
        </p:spPr>
      </p:pic>
      <p:sp>
        <p:nvSpPr>
          <p:cNvPr id="13" name="Text 9"/>
          <p:cNvSpPr/>
          <p:nvPr/>
        </p:nvSpPr>
        <p:spPr>
          <a:xfrm>
            <a:off x="758952" y="2487168"/>
            <a:ext cx="2212848" cy="384048"/>
          </a:xfrm>
          <a:prstGeom prst="rect">
            <a:avLst/>
          </a:prstGeom>
          <a:noFill/>
          <a:ln/>
        </p:spPr>
        <p:txBody>
          <a:bodyPr wrap="square" rtlCol="0" anchor="ctr"/>
          <a:lstStyle/>
          <a:p>
            <a:pPr indent="0" marL="0">
              <a:buNone/>
            </a:pPr>
            <a:r>
              <a:rPr lang="en-US" sz="950" dirty="0">
                <a:solidFill>
                  <a:srgbClr val="8FAAC3"/>
                </a:solidFill>
                <a:latin typeface="Calibri" pitchFamily="34" charset="0"/>
                <a:ea typeface="Calibri" pitchFamily="34" charset="-122"/>
                <a:cs typeface="Calibri" pitchFamily="34" charset="-120"/>
              </a:rPr>
              <a:t>Quick results to validate pipeline</a:t>
            </a:r>
            <a:endParaRPr lang="en-US" sz="950" dirty="0"/>
          </a:p>
        </p:txBody>
      </p:sp>
      <p:pic>
        <p:nvPicPr>
          <p:cNvPr id="14" name="Image 2" descr="preencoded.png">    </p:cNvPr>
          <p:cNvPicPr>
            <a:picLocks noChangeAspect="1"/>
          </p:cNvPicPr>
          <p:nvPr/>
        </p:nvPicPr>
        <p:blipFill>
          <a:blip r:embed="rId3"/>
          <a:stretch>
            <a:fillRect/>
          </a:stretch>
        </p:blipFill>
        <p:spPr>
          <a:xfrm>
            <a:off x="484632" y="2971800"/>
            <a:ext cx="201168" cy="201168"/>
          </a:xfrm>
          <a:prstGeom prst="rect">
            <a:avLst/>
          </a:prstGeom>
        </p:spPr>
      </p:pic>
      <p:sp>
        <p:nvSpPr>
          <p:cNvPr id="15" name="Text 10"/>
          <p:cNvSpPr/>
          <p:nvPr/>
        </p:nvSpPr>
        <p:spPr>
          <a:xfrm>
            <a:off x="758952" y="2944368"/>
            <a:ext cx="2212848" cy="384048"/>
          </a:xfrm>
          <a:prstGeom prst="rect">
            <a:avLst/>
          </a:prstGeom>
          <a:noFill/>
          <a:ln/>
        </p:spPr>
        <p:txBody>
          <a:bodyPr wrap="square" rtlCol="0" anchor="ctr"/>
          <a:lstStyle/>
          <a:p>
            <a:pPr indent="0" marL="0">
              <a:buNone/>
            </a:pPr>
            <a:r>
              <a:rPr lang="en-US" sz="950" dirty="0">
                <a:solidFill>
                  <a:srgbClr val="8FAAC3"/>
                </a:solidFill>
                <a:latin typeface="Calibri" pitchFamily="34" charset="0"/>
                <a:ea typeface="Calibri" pitchFamily="34" charset="-122"/>
                <a:cs typeface="Calibri" pitchFamily="34" charset="-120"/>
              </a:rPr>
              <a:t>Handles tabular feature data well</a:t>
            </a:r>
            <a:endParaRPr lang="en-US" sz="950" dirty="0"/>
          </a:p>
        </p:txBody>
      </p:sp>
      <p:pic>
        <p:nvPicPr>
          <p:cNvPr id="16" name="Image 3" descr="preencoded.png">    </p:cNvPr>
          <p:cNvPicPr>
            <a:picLocks noChangeAspect="1"/>
          </p:cNvPicPr>
          <p:nvPr/>
        </p:nvPicPr>
        <p:blipFill>
          <a:blip r:embed="rId4"/>
          <a:stretch>
            <a:fillRect/>
          </a:stretch>
        </p:blipFill>
        <p:spPr>
          <a:xfrm>
            <a:off x="484632" y="3429000"/>
            <a:ext cx="201168" cy="201168"/>
          </a:xfrm>
          <a:prstGeom prst="rect">
            <a:avLst/>
          </a:prstGeom>
        </p:spPr>
      </p:pic>
      <p:sp>
        <p:nvSpPr>
          <p:cNvPr id="17" name="Text 11"/>
          <p:cNvSpPr/>
          <p:nvPr/>
        </p:nvSpPr>
        <p:spPr>
          <a:xfrm>
            <a:off x="758952" y="3401568"/>
            <a:ext cx="2212848" cy="384048"/>
          </a:xfrm>
          <a:prstGeom prst="rect">
            <a:avLst/>
          </a:prstGeom>
          <a:noFill/>
          <a:ln/>
        </p:spPr>
        <p:txBody>
          <a:bodyPr wrap="square" rtlCol="0" anchor="ctr"/>
          <a:lstStyle/>
          <a:p>
            <a:pPr indent="0" marL="0">
              <a:buNone/>
            </a:pPr>
            <a:r>
              <a:rPr lang="en-US" sz="950" dirty="0">
                <a:solidFill>
                  <a:srgbClr val="8FAAC3"/>
                </a:solidFill>
                <a:latin typeface="Calibri" pitchFamily="34" charset="0"/>
                <a:ea typeface="Calibri" pitchFamily="34" charset="-122"/>
                <a:cs typeface="Calibri" pitchFamily="34" charset="-120"/>
              </a:rPr>
              <a:t>Highly interpretable — good for SHAP</a:t>
            </a:r>
            <a:endParaRPr lang="en-US" sz="950" dirty="0"/>
          </a:p>
        </p:txBody>
      </p:sp>
      <p:pic>
        <p:nvPicPr>
          <p:cNvPr id="18" name="Image 4" descr="preencoded.png">    </p:cNvPr>
          <p:cNvPicPr>
            <a:picLocks noChangeAspect="1"/>
          </p:cNvPicPr>
          <p:nvPr/>
        </p:nvPicPr>
        <p:blipFill>
          <a:blip r:embed="rId5"/>
          <a:stretch>
            <a:fillRect/>
          </a:stretch>
        </p:blipFill>
        <p:spPr>
          <a:xfrm>
            <a:off x="484632" y="3886200"/>
            <a:ext cx="201168" cy="201168"/>
          </a:xfrm>
          <a:prstGeom prst="rect">
            <a:avLst/>
          </a:prstGeom>
        </p:spPr>
      </p:pic>
      <p:sp>
        <p:nvSpPr>
          <p:cNvPr id="19" name="Text 12"/>
          <p:cNvSpPr/>
          <p:nvPr/>
        </p:nvSpPr>
        <p:spPr>
          <a:xfrm>
            <a:off x="758952" y="3858768"/>
            <a:ext cx="2212848" cy="384048"/>
          </a:xfrm>
          <a:prstGeom prst="rect">
            <a:avLst/>
          </a:prstGeom>
          <a:noFill/>
          <a:ln/>
        </p:spPr>
        <p:txBody>
          <a:bodyPr wrap="square" rtlCol="0" anchor="ctr"/>
          <a:lstStyle/>
          <a:p>
            <a:pPr indent="0" marL="0">
              <a:buNone/>
            </a:pPr>
            <a:r>
              <a:rPr lang="en-US" sz="950" dirty="0">
                <a:solidFill>
                  <a:srgbClr val="8FAAC3"/>
                </a:solidFill>
                <a:latin typeface="Calibri" pitchFamily="34" charset="0"/>
                <a:ea typeface="Calibri" pitchFamily="34" charset="-122"/>
                <a:cs typeface="Calibri" pitchFamily="34" charset="-120"/>
              </a:rPr>
              <a:t>Serves as comparison benchmark</a:t>
            </a:r>
            <a:endParaRPr lang="en-US" sz="950" dirty="0"/>
          </a:p>
        </p:txBody>
      </p:sp>
      <p:sp>
        <p:nvSpPr>
          <p:cNvPr id="20" name="Shape 13"/>
          <p:cNvSpPr/>
          <p:nvPr/>
        </p:nvSpPr>
        <p:spPr>
          <a:xfrm>
            <a:off x="429768" y="4617720"/>
            <a:ext cx="2514600" cy="256032"/>
          </a:xfrm>
          <a:prstGeom prst="rect">
            <a:avLst/>
          </a:prstGeom>
          <a:solidFill>
            <a:srgbClr val="0A1628"/>
          </a:solidFill>
          <a:ln w="12700">
            <a:solidFill>
              <a:srgbClr val="3A5A7A"/>
            </a:solidFill>
            <a:prstDash val="solid"/>
          </a:ln>
        </p:spPr>
      </p:sp>
      <p:sp>
        <p:nvSpPr>
          <p:cNvPr id="21" name="Text 14"/>
          <p:cNvSpPr/>
          <p:nvPr/>
        </p:nvSpPr>
        <p:spPr>
          <a:xfrm>
            <a:off x="429768" y="4617720"/>
            <a:ext cx="2514600" cy="256032"/>
          </a:xfrm>
          <a:prstGeom prst="rect">
            <a:avLst/>
          </a:prstGeom>
          <a:noFill/>
          <a:ln/>
        </p:spPr>
        <p:txBody>
          <a:bodyPr wrap="square" lIns="0" tIns="0" rIns="0" bIns="0" rtlCol="0" anchor="ctr"/>
          <a:lstStyle/>
          <a:p>
            <a:pPr algn="ctr" indent="0" marL="0">
              <a:buNone/>
            </a:pPr>
            <a:r>
              <a:rPr lang="en-US" sz="1000" b="1" dirty="0">
                <a:solidFill>
                  <a:srgbClr val="3A5A7A"/>
                </a:solidFill>
                <a:latin typeface="Calibri" pitchFamily="34" charset="0"/>
                <a:ea typeface="Calibri" pitchFamily="34" charset="-122"/>
                <a:cs typeface="Calibri" pitchFamily="34" charset="-120"/>
              </a:rPr>
              <a:t>Foundation</a:t>
            </a:r>
            <a:endParaRPr lang="en-US" sz="1000" dirty="0"/>
          </a:p>
        </p:txBody>
      </p:sp>
      <p:sp>
        <p:nvSpPr>
          <p:cNvPr id="22" name="Shape 15"/>
          <p:cNvSpPr/>
          <p:nvPr/>
        </p:nvSpPr>
        <p:spPr>
          <a:xfrm>
            <a:off x="3200400" y="1005840"/>
            <a:ext cx="2743200" cy="3931920"/>
          </a:xfrm>
          <a:prstGeom prst="rect">
            <a:avLst/>
          </a:prstGeom>
          <a:solidFill>
            <a:srgbClr val="0D2F4A"/>
          </a:solidFill>
          <a:ln w="25400">
            <a:solidFill>
              <a:srgbClr val="00C2A8"/>
            </a:solidFill>
            <a:prstDash val="solid"/>
          </a:ln>
          <a:effectLst>
            <a:outerShdw sx="100000" sy="100000" kx="0" ky="0" algn="bl" rotWithShape="0" blurRad="101600" dist="25400" dir="8100000">
              <a:srgbClr val="000000">
                <a:alpha val="30000"/>
              </a:srgbClr>
            </a:outerShdw>
          </a:effectLst>
        </p:spPr>
      </p:sp>
      <p:sp>
        <p:nvSpPr>
          <p:cNvPr id="23" name="Shape 16"/>
          <p:cNvSpPr/>
          <p:nvPr/>
        </p:nvSpPr>
        <p:spPr>
          <a:xfrm>
            <a:off x="3291840" y="1097280"/>
            <a:ext cx="914400" cy="256032"/>
          </a:xfrm>
          <a:prstGeom prst="rect">
            <a:avLst/>
          </a:prstGeom>
          <a:solidFill>
            <a:srgbClr val="00C2A8"/>
          </a:solidFill>
          <a:ln w="12700">
            <a:solidFill>
              <a:srgbClr val="00C2A8"/>
            </a:solidFill>
            <a:prstDash val="solid"/>
          </a:ln>
        </p:spPr>
      </p:sp>
      <p:sp>
        <p:nvSpPr>
          <p:cNvPr id="24" name="Text 17"/>
          <p:cNvSpPr/>
          <p:nvPr/>
        </p:nvSpPr>
        <p:spPr>
          <a:xfrm>
            <a:off x="3291840" y="1097280"/>
            <a:ext cx="914400" cy="256032"/>
          </a:xfrm>
          <a:prstGeom prst="rect">
            <a:avLst/>
          </a:prstGeom>
          <a:noFill/>
          <a:ln/>
        </p:spPr>
        <p:txBody>
          <a:bodyPr wrap="square" lIns="0" tIns="0" rIns="0" bIns="0" rtlCol="0" anchor="ctr"/>
          <a:lstStyle/>
          <a:p>
            <a:pPr algn="ctr" indent="0" marL="0">
              <a:buNone/>
            </a:pPr>
            <a:r>
              <a:rPr lang="en-US" sz="800" b="1" dirty="0">
                <a:solidFill>
                  <a:srgbClr val="0A1628"/>
                </a:solidFill>
              </a:rPr>
              <a:t>PHASE 2</a:t>
            </a:r>
            <a:endParaRPr lang="en-US" sz="800" dirty="0"/>
          </a:p>
        </p:txBody>
      </p:sp>
      <p:pic>
        <p:nvPicPr>
          <p:cNvPr id="25" name="Image 5" descr="preencoded.png">    </p:cNvPr>
          <p:cNvPicPr>
            <a:picLocks noChangeAspect="1"/>
          </p:cNvPicPr>
          <p:nvPr/>
        </p:nvPicPr>
        <p:blipFill>
          <a:blip r:embed="rId6"/>
          <a:stretch>
            <a:fillRect/>
          </a:stretch>
        </p:blipFill>
        <p:spPr>
          <a:xfrm>
            <a:off x="4343400" y="1078992"/>
            <a:ext cx="502920" cy="502920"/>
          </a:xfrm>
          <a:prstGeom prst="rect">
            <a:avLst/>
          </a:prstGeom>
        </p:spPr>
      </p:pic>
      <p:sp>
        <p:nvSpPr>
          <p:cNvPr id="26" name="Text 18"/>
          <p:cNvSpPr/>
          <p:nvPr/>
        </p:nvSpPr>
        <p:spPr>
          <a:xfrm>
            <a:off x="3310128" y="1691640"/>
            <a:ext cx="2514600" cy="411480"/>
          </a:xfrm>
          <a:prstGeom prst="rect">
            <a:avLst/>
          </a:prstGeom>
          <a:noFill/>
          <a:ln/>
        </p:spPr>
        <p:txBody>
          <a:bodyPr wrap="square" rtlCol="0" anchor="ctr"/>
          <a:lstStyle/>
          <a:p>
            <a:pPr algn="ctr" indent="0" marL="0">
              <a:buNone/>
            </a:pPr>
            <a:r>
              <a:rPr lang="en-US" sz="1600" b="1" dirty="0">
                <a:solidFill>
                  <a:srgbClr val="00C2A8"/>
                </a:solidFill>
                <a:latin typeface="Calibri" pitchFamily="34" charset="0"/>
                <a:ea typeface="Calibri" pitchFamily="34" charset="-122"/>
                <a:cs typeface="Calibri" pitchFamily="34" charset="-120"/>
              </a:rPr>
              <a:t>LSTM Network</a:t>
            </a:r>
            <a:endParaRPr lang="en-US" sz="1600" dirty="0"/>
          </a:p>
        </p:txBody>
      </p:sp>
      <p:sp>
        <p:nvSpPr>
          <p:cNvPr id="27" name="Text 19"/>
          <p:cNvSpPr/>
          <p:nvPr/>
        </p:nvSpPr>
        <p:spPr>
          <a:xfrm>
            <a:off x="3310128" y="2084832"/>
            <a:ext cx="2514600" cy="274320"/>
          </a:xfrm>
          <a:prstGeom prst="rect">
            <a:avLst/>
          </a:prstGeom>
          <a:noFill/>
          <a:ln/>
        </p:spPr>
        <p:txBody>
          <a:bodyPr wrap="square" rtlCol="0" anchor="ctr"/>
          <a:lstStyle/>
          <a:p>
            <a:pPr algn="ctr" indent="0" marL="0">
              <a:buNone/>
            </a:pPr>
            <a:r>
              <a:rPr lang="en-US" sz="1100" dirty="0">
                <a:solidFill>
                  <a:srgbClr val="00C2A8"/>
                </a:solidFill>
                <a:latin typeface="Calibri" pitchFamily="34" charset="0"/>
                <a:ea typeface="Calibri" pitchFamily="34" charset="-122"/>
                <a:cs typeface="Calibri" pitchFamily="34" charset="-120"/>
              </a:rPr>
              <a:t>Main Focus ★</a:t>
            </a:r>
            <a:endParaRPr lang="en-US" sz="1100" dirty="0"/>
          </a:p>
        </p:txBody>
      </p:sp>
      <p:sp>
        <p:nvSpPr>
          <p:cNvPr id="28" name="Shape 20"/>
          <p:cNvSpPr/>
          <p:nvPr/>
        </p:nvSpPr>
        <p:spPr>
          <a:xfrm>
            <a:off x="3310128" y="2395728"/>
            <a:ext cx="2514600" cy="27432"/>
          </a:xfrm>
          <a:prstGeom prst="rect">
            <a:avLst/>
          </a:prstGeom>
          <a:solidFill>
            <a:srgbClr val="1A3A5C"/>
          </a:solidFill>
          <a:ln w="12700">
            <a:solidFill>
              <a:srgbClr val="1A3A5C"/>
            </a:solidFill>
            <a:prstDash val="solid"/>
          </a:ln>
        </p:spPr>
      </p:sp>
      <p:pic>
        <p:nvPicPr>
          <p:cNvPr id="29" name="Image 6" descr="preencoded.png">    </p:cNvPr>
          <p:cNvPicPr>
            <a:picLocks noChangeAspect="1"/>
          </p:cNvPicPr>
          <p:nvPr/>
        </p:nvPicPr>
        <p:blipFill>
          <a:blip r:embed="rId7"/>
          <a:stretch>
            <a:fillRect/>
          </a:stretch>
        </p:blipFill>
        <p:spPr>
          <a:xfrm>
            <a:off x="3364992" y="2514600"/>
            <a:ext cx="201168" cy="201168"/>
          </a:xfrm>
          <a:prstGeom prst="rect">
            <a:avLst/>
          </a:prstGeom>
        </p:spPr>
      </p:pic>
      <p:sp>
        <p:nvSpPr>
          <p:cNvPr id="30" name="Text 21"/>
          <p:cNvSpPr/>
          <p:nvPr/>
        </p:nvSpPr>
        <p:spPr>
          <a:xfrm>
            <a:off x="3639312" y="2487168"/>
            <a:ext cx="2212848" cy="384048"/>
          </a:xfrm>
          <a:prstGeom prst="rect">
            <a:avLst/>
          </a:prstGeom>
          <a:noFill/>
          <a:ln/>
        </p:spPr>
        <p:txBody>
          <a:bodyPr wrap="square" rtlCol="0" anchor="ctr"/>
          <a:lstStyle/>
          <a:p>
            <a:pPr indent="0" marL="0">
              <a:buNone/>
            </a:pPr>
            <a:r>
              <a:rPr lang="en-US" sz="950" dirty="0">
                <a:solidFill>
                  <a:srgbClr val="8FAAC3"/>
                </a:solidFill>
                <a:latin typeface="Calibri" pitchFamily="34" charset="0"/>
                <a:ea typeface="Calibri" pitchFamily="34" charset="-122"/>
                <a:cs typeface="Calibri" pitchFamily="34" charset="-120"/>
              </a:rPr>
              <a:t>Designed for sequential time-series data</a:t>
            </a:r>
            <a:endParaRPr lang="en-US" sz="950" dirty="0"/>
          </a:p>
        </p:txBody>
      </p:sp>
      <p:pic>
        <p:nvPicPr>
          <p:cNvPr id="31" name="Image 7" descr="preencoded.png">    </p:cNvPr>
          <p:cNvPicPr>
            <a:picLocks noChangeAspect="1"/>
          </p:cNvPicPr>
          <p:nvPr/>
        </p:nvPicPr>
        <p:blipFill>
          <a:blip r:embed="rId8"/>
          <a:stretch>
            <a:fillRect/>
          </a:stretch>
        </p:blipFill>
        <p:spPr>
          <a:xfrm>
            <a:off x="3364992" y="2971800"/>
            <a:ext cx="201168" cy="201168"/>
          </a:xfrm>
          <a:prstGeom prst="rect">
            <a:avLst/>
          </a:prstGeom>
        </p:spPr>
      </p:pic>
      <p:sp>
        <p:nvSpPr>
          <p:cNvPr id="32" name="Text 22"/>
          <p:cNvSpPr/>
          <p:nvPr/>
        </p:nvSpPr>
        <p:spPr>
          <a:xfrm>
            <a:off x="3639312" y="2944368"/>
            <a:ext cx="2212848" cy="384048"/>
          </a:xfrm>
          <a:prstGeom prst="rect">
            <a:avLst/>
          </a:prstGeom>
          <a:noFill/>
          <a:ln/>
        </p:spPr>
        <p:txBody>
          <a:bodyPr wrap="square" rtlCol="0" anchor="ctr"/>
          <a:lstStyle/>
          <a:p>
            <a:pPr indent="0" marL="0">
              <a:buNone/>
            </a:pPr>
            <a:r>
              <a:rPr lang="en-US" sz="950" dirty="0">
                <a:solidFill>
                  <a:srgbClr val="8FAAC3"/>
                </a:solidFill>
                <a:latin typeface="Calibri" pitchFamily="34" charset="0"/>
                <a:ea typeface="Calibri" pitchFamily="34" charset="-122"/>
                <a:cs typeface="Calibri" pitchFamily="34" charset="-120"/>
              </a:rPr>
              <a:t>Captures temporal patterns &amp; trends</a:t>
            </a:r>
            <a:endParaRPr lang="en-US" sz="950" dirty="0"/>
          </a:p>
        </p:txBody>
      </p:sp>
      <p:pic>
        <p:nvPicPr>
          <p:cNvPr id="33" name="Image 8" descr="preencoded.png">    </p:cNvPr>
          <p:cNvPicPr>
            <a:picLocks noChangeAspect="1"/>
          </p:cNvPicPr>
          <p:nvPr/>
        </p:nvPicPr>
        <p:blipFill>
          <a:blip r:embed="rId9"/>
          <a:stretch>
            <a:fillRect/>
          </a:stretch>
        </p:blipFill>
        <p:spPr>
          <a:xfrm>
            <a:off x="3364992" y="3429000"/>
            <a:ext cx="201168" cy="201168"/>
          </a:xfrm>
          <a:prstGeom prst="rect">
            <a:avLst/>
          </a:prstGeom>
        </p:spPr>
      </p:pic>
      <p:sp>
        <p:nvSpPr>
          <p:cNvPr id="34" name="Text 23"/>
          <p:cNvSpPr/>
          <p:nvPr/>
        </p:nvSpPr>
        <p:spPr>
          <a:xfrm>
            <a:off x="3639312" y="3401568"/>
            <a:ext cx="2212848" cy="384048"/>
          </a:xfrm>
          <a:prstGeom prst="rect">
            <a:avLst/>
          </a:prstGeom>
          <a:noFill/>
          <a:ln/>
        </p:spPr>
        <p:txBody>
          <a:bodyPr wrap="square" rtlCol="0" anchor="ctr"/>
          <a:lstStyle/>
          <a:p>
            <a:pPr indent="0" marL="0">
              <a:buNone/>
            </a:pPr>
            <a:r>
              <a:rPr lang="en-US" sz="950" dirty="0">
                <a:solidFill>
                  <a:srgbClr val="8FAAC3"/>
                </a:solidFill>
                <a:latin typeface="Calibri" pitchFamily="34" charset="0"/>
                <a:ea typeface="Calibri" pitchFamily="34" charset="-122"/>
                <a:cs typeface="Calibri" pitchFamily="34" charset="-120"/>
              </a:rPr>
              <a:t>60-day look-back window</a:t>
            </a:r>
            <a:endParaRPr lang="en-US" sz="950" dirty="0"/>
          </a:p>
        </p:txBody>
      </p:sp>
      <p:pic>
        <p:nvPicPr>
          <p:cNvPr id="35" name="Image 9" descr="preencoded.png">    </p:cNvPr>
          <p:cNvPicPr>
            <a:picLocks noChangeAspect="1"/>
          </p:cNvPicPr>
          <p:nvPr/>
        </p:nvPicPr>
        <p:blipFill>
          <a:blip r:embed="rId10"/>
          <a:stretch>
            <a:fillRect/>
          </a:stretch>
        </p:blipFill>
        <p:spPr>
          <a:xfrm>
            <a:off x="3364992" y="3886200"/>
            <a:ext cx="201168" cy="201168"/>
          </a:xfrm>
          <a:prstGeom prst="rect">
            <a:avLst/>
          </a:prstGeom>
        </p:spPr>
      </p:pic>
      <p:sp>
        <p:nvSpPr>
          <p:cNvPr id="36" name="Text 24"/>
          <p:cNvSpPr/>
          <p:nvPr/>
        </p:nvSpPr>
        <p:spPr>
          <a:xfrm>
            <a:off x="3639312" y="3858768"/>
            <a:ext cx="2212848" cy="384048"/>
          </a:xfrm>
          <a:prstGeom prst="rect">
            <a:avLst/>
          </a:prstGeom>
          <a:noFill/>
          <a:ln/>
        </p:spPr>
        <p:txBody>
          <a:bodyPr wrap="square" rtlCol="0" anchor="ctr"/>
          <a:lstStyle/>
          <a:p>
            <a:pPr indent="0" marL="0">
              <a:buNone/>
            </a:pPr>
            <a:r>
              <a:rPr lang="en-US" sz="950" dirty="0">
                <a:solidFill>
                  <a:srgbClr val="8FAAC3"/>
                </a:solidFill>
                <a:latin typeface="Calibri" pitchFamily="34" charset="0"/>
                <a:ea typeface="Calibri" pitchFamily="34" charset="-122"/>
                <a:cs typeface="Calibri" pitchFamily="34" charset="-120"/>
              </a:rPr>
              <a:t>Outperforms RF on financial data</a:t>
            </a:r>
            <a:endParaRPr lang="en-US" sz="950" dirty="0"/>
          </a:p>
        </p:txBody>
      </p:sp>
      <p:sp>
        <p:nvSpPr>
          <p:cNvPr id="37" name="Shape 25"/>
          <p:cNvSpPr/>
          <p:nvPr/>
        </p:nvSpPr>
        <p:spPr>
          <a:xfrm>
            <a:off x="3310128" y="4617720"/>
            <a:ext cx="2514600" cy="256032"/>
          </a:xfrm>
          <a:prstGeom prst="rect">
            <a:avLst/>
          </a:prstGeom>
          <a:solidFill>
            <a:srgbClr val="0A1628"/>
          </a:solidFill>
          <a:ln w="12700">
            <a:solidFill>
              <a:srgbClr val="00C2A8"/>
            </a:solidFill>
            <a:prstDash val="solid"/>
          </a:ln>
        </p:spPr>
      </p:sp>
      <p:sp>
        <p:nvSpPr>
          <p:cNvPr id="38" name="Text 26"/>
          <p:cNvSpPr/>
          <p:nvPr/>
        </p:nvSpPr>
        <p:spPr>
          <a:xfrm>
            <a:off x="3310128" y="4617720"/>
            <a:ext cx="2514600" cy="256032"/>
          </a:xfrm>
          <a:prstGeom prst="rect">
            <a:avLst/>
          </a:prstGeom>
          <a:noFill/>
          <a:ln/>
        </p:spPr>
        <p:txBody>
          <a:bodyPr wrap="square" lIns="0" tIns="0" rIns="0" bIns="0" rtlCol="0" anchor="ctr"/>
          <a:lstStyle/>
          <a:p>
            <a:pPr algn="ctr" indent="0" marL="0">
              <a:buNone/>
            </a:pPr>
            <a:r>
              <a:rPr lang="en-US" sz="1000" b="1" dirty="0">
                <a:solidFill>
                  <a:srgbClr val="00C2A8"/>
                </a:solidFill>
                <a:latin typeface="Calibri" pitchFamily="34" charset="0"/>
                <a:ea typeface="Calibri" pitchFamily="34" charset="-122"/>
                <a:cs typeface="Calibri" pitchFamily="34" charset="-120"/>
              </a:rPr>
              <a:t>Core Model</a:t>
            </a:r>
            <a:endParaRPr lang="en-US" sz="1000" dirty="0"/>
          </a:p>
        </p:txBody>
      </p:sp>
      <p:sp>
        <p:nvSpPr>
          <p:cNvPr id="39" name="Shape 27"/>
          <p:cNvSpPr/>
          <p:nvPr/>
        </p:nvSpPr>
        <p:spPr>
          <a:xfrm>
            <a:off x="6080760" y="1005840"/>
            <a:ext cx="2743200" cy="3931920"/>
          </a:xfrm>
          <a:prstGeom prst="rect">
            <a:avLst/>
          </a:prstGeom>
          <a:solidFill>
            <a:srgbClr val="112240"/>
          </a:solidFill>
          <a:ln w="12700">
            <a:solidFill>
              <a:srgbClr val="1A3A5C"/>
            </a:solidFill>
            <a:prstDash val="solid"/>
          </a:ln>
        </p:spPr>
      </p:sp>
      <p:sp>
        <p:nvSpPr>
          <p:cNvPr id="40" name="Shape 28"/>
          <p:cNvSpPr/>
          <p:nvPr/>
        </p:nvSpPr>
        <p:spPr>
          <a:xfrm>
            <a:off x="6172200" y="1097280"/>
            <a:ext cx="914400" cy="256032"/>
          </a:xfrm>
          <a:prstGeom prst="rect">
            <a:avLst/>
          </a:prstGeom>
          <a:solidFill>
            <a:srgbClr val="FFD166"/>
          </a:solidFill>
          <a:ln w="12700">
            <a:solidFill>
              <a:srgbClr val="FFD166"/>
            </a:solidFill>
            <a:prstDash val="solid"/>
          </a:ln>
        </p:spPr>
      </p:sp>
      <p:sp>
        <p:nvSpPr>
          <p:cNvPr id="41" name="Text 29"/>
          <p:cNvSpPr/>
          <p:nvPr/>
        </p:nvSpPr>
        <p:spPr>
          <a:xfrm>
            <a:off x="6172200" y="1097280"/>
            <a:ext cx="914400" cy="256032"/>
          </a:xfrm>
          <a:prstGeom prst="rect">
            <a:avLst/>
          </a:prstGeom>
          <a:noFill/>
          <a:ln/>
        </p:spPr>
        <p:txBody>
          <a:bodyPr wrap="square" lIns="0" tIns="0" rIns="0" bIns="0" rtlCol="0" anchor="ctr"/>
          <a:lstStyle/>
          <a:p>
            <a:pPr algn="ctr" indent="0" marL="0">
              <a:buNone/>
            </a:pPr>
            <a:r>
              <a:rPr lang="en-US" sz="800" b="1" dirty="0">
                <a:solidFill>
                  <a:srgbClr val="0A1628"/>
                </a:solidFill>
              </a:rPr>
              <a:t>PHASE 3</a:t>
            </a:r>
            <a:endParaRPr lang="en-US" sz="800" dirty="0"/>
          </a:p>
        </p:txBody>
      </p:sp>
      <p:pic>
        <p:nvPicPr>
          <p:cNvPr id="42" name="Image 10" descr="preencoded.png">    </p:cNvPr>
          <p:cNvPicPr>
            <a:picLocks noChangeAspect="1"/>
          </p:cNvPicPr>
          <p:nvPr/>
        </p:nvPicPr>
        <p:blipFill>
          <a:blip r:embed="rId11"/>
          <a:stretch>
            <a:fillRect/>
          </a:stretch>
        </p:blipFill>
        <p:spPr>
          <a:xfrm>
            <a:off x="7223760" y="1078992"/>
            <a:ext cx="502920" cy="502920"/>
          </a:xfrm>
          <a:prstGeom prst="rect">
            <a:avLst/>
          </a:prstGeom>
        </p:spPr>
      </p:pic>
      <p:sp>
        <p:nvSpPr>
          <p:cNvPr id="43" name="Text 30"/>
          <p:cNvSpPr/>
          <p:nvPr/>
        </p:nvSpPr>
        <p:spPr>
          <a:xfrm>
            <a:off x="6190488" y="1691640"/>
            <a:ext cx="2514600" cy="41148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Reinforcement Learning</a:t>
            </a:r>
            <a:endParaRPr lang="en-US" sz="1600" dirty="0"/>
          </a:p>
        </p:txBody>
      </p:sp>
      <p:sp>
        <p:nvSpPr>
          <p:cNvPr id="44" name="Text 31"/>
          <p:cNvSpPr/>
          <p:nvPr/>
        </p:nvSpPr>
        <p:spPr>
          <a:xfrm>
            <a:off x="6190488" y="2084832"/>
            <a:ext cx="2514600" cy="274320"/>
          </a:xfrm>
          <a:prstGeom prst="rect">
            <a:avLst/>
          </a:prstGeom>
          <a:noFill/>
          <a:ln/>
        </p:spPr>
        <p:txBody>
          <a:bodyPr wrap="square" rtlCol="0" anchor="ctr"/>
          <a:lstStyle/>
          <a:p>
            <a:pPr algn="ctr" indent="0" marL="0">
              <a:buNone/>
            </a:pPr>
            <a:r>
              <a:rPr lang="en-US" sz="1100" dirty="0">
                <a:solidFill>
                  <a:srgbClr val="FFD166"/>
                </a:solidFill>
                <a:latin typeface="Calibri" pitchFamily="34" charset="0"/>
                <a:ea typeface="Calibri" pitchFamily="34" charset="-122"/>
                <a:cs typeface="Calibri" pitchFamily="34" charset="-120"/>
              </a:rPr>
              <a:t>Stretch Goal</a:t>
            </a:r>
            <a:endParaRPr lang="en-US" sz="1100" dirty="0"/>
          </a:p>
        </p:txBody>
      </p:sp>
      <p:sp>
        <p:nvSpPr>
          <p:cNvPr id="45" name="Shape 32"/>
          <p:cNvSpPr/>
          <p:nvPr/>
        </p:nvSpPr>
        <p:spPr>
          <a:xfrm>
            <a:off x="6190488" y="2395728"/>
            <a:ext cx="2514600" cy="27432"/>
          </a:xfrm>
          <a:prstGeom prst="rect">
            <a:avLst/>
          </a:prstGeom>
          <a:solidFill>
            <a:srgbClr val="1A3A5C"/>
          </a:solidFill>
          <a:ln w="12700">
            <a:solidFill>
              <a:srgbClr val="1A3A5C"/>
            </a:solidFill>
            <a:prstDash val="solid"/>
          </a:ln>
        </p:spPr>
      </p:sp>
      <p:pic>
        <p:nvPicPr>
          <p:cNvPr id="46" name="Image 11" descr="preencoded.png">    </p:cNvPr>
          <p:cNvPicPr>
            <a:picLocks noChangeAspect="1"/>
          </p:cNvPicPr>
          <p:nvPr/>
        </p:nvPicPr>
        <p:blipFill>
          <a:blip r:embed="rId12"/>
          <a:stretch>
            <a:fillRect/>
          </a:stretch>
        </p:blipFill>
        <p:spPr>
          <a:xfrm>
            <a:off x="6245352" y="2514600"/>
            <a:ext cx="201168" cy="201168"/>
          </a:xfrm>
          <a:prstGeom prst="rect">
            <a:avLst/>
          </a:prstGeom>
        </p:spPr>
      </p:pic>
      <p:sp>
        <p:nvSpPr>
          <p:cNvPr id="47" name="Text 33"/>
          <p:cNvSpPr/>
          <p:nvPr/>
        </p:nvSpPr>
        <p:spPr>
          <a:xfrm>
            <a:off x="6519672" y="2487168"/>
            <a:ext cx="2212848" cy="384048"/>
          </a:xfrm>
          <a:prstGeom prst="rect">
            <a:avLst/>
          </a:prstGeom>
          <a:noFill/>
          <a:ln/>
        </p:spPr>
        <p:txBody>
          <a:bodyPr wrap="square" rtlCol="0" anchor="ctr"/>
          <a:lstStyle/>
          <a:p>
            <a:pPr indent="0" marL="0">
              <a:buNone/>
            </a:pPr>
            <a:r>
              <a:rPr lang="en-US" sz="950" dirty="0">
                <a:solidFill>
                  <a:srgbClr val="8FAAC3"/>
                </a:solidFill>
                <a:latin typeface="Calibri" pitchFamily="34" charset="0"/>
                <a:ea typeface="Calibri" pitchFamily="34" charset="-122"/>
                <a:cs typeface="Calibri" pitchFamily="34" charset="-120"/>
              </a:rPr>
              <a:t>Learns full trading strategy via trial &amp; error</a:t>
            </a:r>
            <a:endParaRPr lang="en-US" sz="950" dirty="0"/>
          </a:p>
        </p:txBody>
      </p:sp>
      <p:pic>
        <p:nvPicPr>
          <p:cNvPr id="48" name="Image 12" descr="preencoded.png">    </p:cNvPr>
          <p:cNvPicPr>
            <a:picLocks noChangeAspect="1"/>
          </p:cNvPicPr>
          <p:nvPr/>
        </p:nvPicPr>
        <p:blipFill>
          <a:blip r:embed="rId13"/>
          <a:stretch>
            <a:fillRect/>
          </a:stretch>
        </p:blipFill>
        <p:spPr>
          <a:xfrm>
            <a:off x="6245352" y="2971800"/>
            <a:ext cx="201168" cy="201168"/>
          </a:xfrm>
          <a:prstGeom prst="rect">
            <a:avLst/>
          </a:prstGeom>
        </p:spPr>
      </p:pic>
      <p:sp>
        <p:nvSpPr>
          <p:cNvPr id="49" name="Text 34"/>
          <p:cNvSpPr/>
          <p:nvPr/>
        </p:nvSpPr>
        <p:spPr>
          <a:xfrm>
            <a:off x="6519672" y="2944368"/>
            <a:ext cx="2212848" cy="384048"/>
          </a:xfrm>
          <a:prstGeom prst="rect">
            <a:avLst/>
          </a:prstGeom>
          <a:noFill/>
          <a:ln/>
        </p:spPr>
        <p:txBody>
          <a:bodyPr wrap="square" rtlCol="0" anchor="ctr"/>
          <a:lstStyle/>
          <a:p>
            <a:pPr indent="0" marL="0">
              <a:buNone/>
            </a:pPr>
            <a:r>
              <a:rPr lang="en-US" sz="950" dirty="0">
                <a:solidFill>
                  <a:srgbClr val="8FAAC3"/>
                </a:solidFill>
                <a:latin typeface="Calibri" pitchFamily="34" charset="0"/>
                <a:ea typeface="Calibri" pitchFamily="34" charset="-122"/>
                <a:cs typeface="Calibri" pitchFamily="34" charset="-120"/>
              </a:rPr>
              <a:t>Manages portfolio-level decisions</a:t>
            </a:r>
            <a:endParaRPr lang="en-US" sz="950" dirty="0"/>
          </a:p>
        </p:txBody>
      </p:sp>
      <p:pic>
        <p:nvPicPr>
          <p:cNvPr id="50" name="Image 13" descr="preencoded.png">    </p:cNvPr>
          <p:cNvPicPr>
            <a:picLocks noChangeAspect="1"/>
          </p:cNvPicPr>
          <p:nvPr/>
        </p:nvPicPr>
        <p:blipFill>
          <a:blip r:embed="rId14"/>
          <a:stretch>
            <a:fillRect/>
          </a:stretch>
        </p:blipFill>
        <p:spPr>
          <a:xfrm>
            <a:off x="6245352" y="3429000"/>
            <a:ext cx="201168" cy="201168"/>
          </a:xfrm>
          <a:prstGeom prst="rect">
            <a:avLst/>
          </a:prstGeom>
        </p:spPr>
      </p:pic>
      <p:sp>
        <p:nvSpPr>
          <p:cNvPr id="51" name="Text 35"/>
          <p:cNvSpPr/>
          <p:nvPr/>
        </p:nvSpPr>
        <p:spPr>
          <a:xfrm>
            <a:off x="6519672" y="3401568"/>
            <a:ext cx="2212848" cy="384048"/>
          </a:xfrm>
          <a:prstGeom prst="rect">
            <a:avLst/>
          </a:prstGeom>
          <a:noFill/>
          <a:ln/>
        </p:spPr>
        <p:txBody>
          <a:bodyPr wrap="square" rtlCol="0" anchor="ctr"/>
          <a:lstStyle/>
          <a:p>
            <a:pPr indent="0" marL="0">
              <a:buNone/>
            </a:pPr>
            <a:r>
              <a:rPr lang="en-US" sz="950" dirty="0">
                <a:solidFill>
                  <a:srgbClr val="8FAAC3"/>
                </a:solidFill>
                <a:latin typeface="Calibri" pitchFamily="34" charset="0"/>
                <a:ea typeface="Calibri" pitchFamily="34" charset="-122"/>
                <a:cs typeface="Calibri" pitchFamily="34" charset="-120"/>
              </a:rPr>
              <a:t>Reward = profit, Penalty = loss</a:t>
            </a:r>
            <a:endParaRPr lang="en-US" sz="950" dirty="0"/>
          </a:p>
        </p:txBody>
      </p:sp>
      <p:pic>
        <p:nvPicPr>
          <p:cNvPr id="52" name="Image 14" descr="preencoded.png">    </p:cNvPr>
          <p:cNvPicPr>
            <a:picLocks noChangeAspect="1"/>
          </p:cNvPicPr>
          <p:nvPr/>
        </p:nvPicPr>
        <p:blipFill>
          <a:blip r:embed="rId15"/>
          <a:stretch>
            <a:fillRect/>
          </a:stretch>
        </p:blipFill>
        <p:spPr>
          <a:xfrm>
            <a:off x="6245352" y="3886200"/>
            <a:ext cx="201168" cy="201168"/>
          </a:xfrm>
          <a:prstGeom prst="rect">
            <a:avLst/>
          </a:prstGeom>
        </p:spPr>
      </p:pic>
      <p:sp>
        <p:nvSpPr>
          <p:cNvPr id="53" name="Text 36"/>
          <p:cNvSpPr/>
          <p:nvPr/>
        </p:nvSpPr>
        <p:spPr>
          <a:xfrm>
            <a:off x="6519672" y="3858768"/>
            <a:ext cx="2212848" cy="384048"/>
          </a:xfrm>
          <a:prstGeom prst="rect">
            <a:avLst/>
          </a:prstGeom>
          <a:noFill/>
          <a:ln/>
        </p:spPr>
        <p:txBody>
          <a:bodyPr wrap="square" rtlCol="0" anchor="ctr"/>
          <a:lstStyle/>
          <a:p>
            <a:pPr indent="0" marL="0">
              <a:buNone/>
            </a:pPr>
            <a:r>
              <a:rPr lang="en-US" sz="950" dirty="0">
                <a:solidFill>
                  <a:srgbClr val="8FAAC3"/>
                </a:solidFill>
                <a:latin typeface="Calibri" pitchFamily="34" charset="0"/>
                <a:ea typeface="Calibri" pitchFamily="34" charset="-122"/>
                <a:cs typeface="Calibri" pitchFamily="34" charset="-120"/>
              </a:rPr>
              <a:t>PPO algorithm via stable-baselines3</a:t>
            </a:r>
            <a:endParaRPr lang="en-US" sz="950" dirty="0"/>
          </a:p>
        </p:txBody>
      </p:sp>
      <p:sp>
        <p:nvSpPr>
          <p:cNvPr id="54" name="Shape 37"/>
          <p:cNvSpPr/>
          <p:nvPr/>
        </p:nvSpPr>
        <p:spPr>
          <a:xfrm>
            <a:off x="6190488" y="4617720"/>
            <a:ext cx="2514600" cy="256032"/>
          </a:xfrm>
          <a:prstGeom prst="rect">
            <a:avLst/>
          </a:prstGeom>
          <a:solidFill>
            <a:srgbClr val="0A1628"/>
          </a:solidFill>
          <a:ln w="12700">
            <a:solidFill>
              <a:srgbClr val="FFD166"/>
            </a:solidFill>
            <a:prstDash val="solid"/>
          </a:ln>
        </p:spPr>
      </p:sp>
      <p:sp>
        <p:nvSpPr>
          <p:cNvPr id="55" name="Text 38"/>
          <p:cNvSpPr/>
          <p:nvPr/>
        </p:nvSpPr>
        <p:spPr>
          <a:xfrm>
            <a:off x="6190488" y="4617720"/>
            <a:ext cx="2514600" cy="256032"/>
          </a:xfrm>
          <a:prstGeom prst="rect">
            <a:avLst/>
          </a:prstGeom>
          <a:noFill/>
          <a:ln/>
        </p:spPr>
        <p:txBody>
          <a:bodyPr wrap="square" lIns="0" tIns="0" rIns="0" bIns="0" rtlCol="0" anchor="ctr"/>
          <a:lstStyle/>
          <a:p>
            <a:pPr algn="ctr" indent="0" marL="0">
              <a:buNone/>
            </a:pPr>
            <a:r>
              <a:rPr lang="en-US" sz="1000" b="1" dirty="0">
                <a:solidFill>
                  <a:srgbClr val="FFD166"/>
                </a:solidFill>
                <a:latin typeface="Calibri" pitchFamily="34" charset="0"/>
                <a:ea typeface="Calibri" pitchFamily="34" charset="-122"/>
                <a:cs typeface="Calibri" pitchFamily="34" charset="-120"/>
              </a:rPr>
              <a:t>1st Class Target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2137"/>
          </a:solidFill>
          <a:ln w="12700">
            <a:solidFill>
              <a:srgbClr val="0D2137"/>
            </a:solidFill>
            <a:prstDash val="solid"/>
          </a:ln>
        </p:spPr>
      </p:sp>
      <p:sp>
        <p:nvSpPr>
          <p:cNvPr id="3" name="Shape 1"/>
          <p:cNvSpPr/>
          <p:nvPr/>
        </p:nvSpPr>
        <p:spPr>
          <a:xfrm>
            <a:off x="0" y="868680"/>
            <a:ext cx="9144000" cy="45720"/>
          </a:xfrm>
          <a:prstGeom prst="rect">
            <a:avLst/>
          </a:prstGeom>
          <a:solidFill>
            <a:srgbClr val="00C2A8"/>
          </a:solidFill>
          <a:ln w="12700">
            <a:solidFill>
              <a:srgbClr val="00C2A8"/>
            </a:solidFill>
            <a:prstDash val="solid"/>
          </a:ln>
        </p:spPr>
      </p:sp>
      <p:sp>
        <p:nvSpPr>
          <p:cNvPr id="4" name="Text 2"/>
          <p:cNvSpPr/>
          <p:nvPr/>
        </p:nvSpPr>
        <p:spPr>
          <a:xfrm>
            <a:off x="457200" y="0"/>
            <a:ext cx="8229600" cy="91440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TARGET AUDIENCE</a:t>
            </a:r>
            <a:endParaRPr lang="en-US" sz="2600" dirty="0"/>
          </a:p>
        </p:txBody>
      </p:sp>
      <p:sp>
        <p:nvSpPr>
          <p:cNvPr id="5" name="Shape 3"/>
          <p:cNvSpPr/>
          <p:nvPr/>
        </p:nvSpPr>
        <p:spPr>
          <a:xfrm>
            <a:off x="274320" y="1005840"/>
            <a:ext cx="2788920" cy="3931920"/>
          </a:xfrm>
          <a:prstGeom prst="rect">
            <a:avLst/>
          </a:prstGeom>
          <a:solidFill>
            <a:srgbClr val="112240"/>
          </a:solidFill>
          <a:ln w="12700">
            <a:solidFill>
              <a:srgbClr val="1A3A5C"/>
            </a:solidFill>
            <a:prstDash val="solid"/>
          </a:ln>
        </p:spPr>
      </p:sp>
      <p:sp>
        <p:nvSpPr>
          <p:cNvPr id="6" name="Shape 4"/>
          <p:cNvSpPr/>
          <p:nvPr/>
        </p:nvSpPr>
        <p:spPr>
          <a:xfrm>
            <a:off x="274320" y="1005840"/>
            <a:ext cx="2788920" cy="45720"/>
          </a:xfrm>
          <a:prstGeom prst="rect">
            <a:avLst/>
          </a:prstGeom>
          <a:solidFill>
            <a:srgbClr val="00C2A8"/>
          </a:solidFill>
          <a:ln w="12700">
            <a:solidFill>
              <a:srgbClr val="00C2A8"/>
            </a:solidFill>
            <a:prstDash val="solid"/>
          </a:ln>
        </p:spPr>
      </p:sp>
      <p:sp>
        <p:nvSpPr>
          <p:cNvPr id="7" name="Shape 5"/>
          <p:cNvSpPr/>
          <p:nvPr/>
        </p:nvSpPr>
        <p:spPr>
          <a:xfrm>
            <a:off x="384048" y="1078992"/>
            <a:ext cx="1005840" cy="237744"/>
          </a:xfrm>
          <a:prstGeom prst="rect">
            <a:avLst/>
          </a:prstGeom>
          <a:solidFill>
            <a:srgbClr val="00C2A8"/>
          </a:solidFill>
          <a:ln w="12700">
            <a:solidFill>
              <a:srgbClr val="00C2A8"/>
            </a:solidFill>
            <a:prstDash val="solid"/>
          </a:ln>
        </p:spPr>
      </p:sp>
      <p:sp>
        <p:nvSpPr>
          <p:cNvPr id="8" name="Text 6"/>
          <p:cNvSpPr/>
          <p:nvPr/>
        </p:nvSpPr>
        <p:spPr>
          <a:xfrm>
            <a:off x="384048" y="1078992"/>
            <a:ext cx="1005840" cy="237744"/>
          </a:xfrm>
          <a:prstGeom prst="rect">
            <a:avLst/>
          </a:prstGeom>
          <a:noFill/>
          <a:ln/>
        </p:spPr>
        <p:txBody>
          <a:bodyPr wrap="square" lIns="0" tIns="0" rIns="0" bIns="0" rtlCol="0" anchor="ctr"/>
          <a:lstStyle/>
          <a:p>
            <a:pPr algn="ctr" indent="0" marL="0">
              <a:buNone/>
            </a:pPr>
            <a:r>
              <a:rPr lang="en-US" sz="800" b="1" dirty="0">
                <a:solidFill>
                  <a:srgbClr val="0A1628"/>
                </a:solidFill>
              </a:rPr>
              <a:t>PRIMARY</a:t>
            </a:r>
            <a:endParaRPr lang="en-US" sz="800" dirty="0"/>
          </a:p>
        </p:txBody>
      </p:sp>
      <p:pic>
        <p:nvPicPr>
          <p:cNvPr id="9" name="Image 0" descr="preencoded.png">    </p:cNvPr>
          <p:cNvPicPr>
            <a:picLocks noChangeAspect="1"/>
          </p:cNvPicPr>
          <p:nvPr/>
        </p:nvPicPr>
        <p:blipFill>
          <a:blip r:embed="rId1"/>
          <a:stretch>
            <a:fillRect/>
          </a:stretch>
        </p:blipFill>
        <p:spPr>
          <a:xfrm>
            <a:off x="1444752" y="1051560"/>
            <a:ext cx="502920" cy="502920"/>
          </a:xfrm>
          <a:prstGeom prst="rect">
            <a:avLst/>
          </a:prstGeom>
        </p:spPr>
      </p:pic>
      <p:sp>
        <p:nvSpPr>
          <p:cNvPr id="10" name="Text 7"/>
          <p:cNvSpPr/>
          <p:nvPr/>
        </p:nvSpPr>
        <p:spPr>
          <a:xfrm>
            <a:off x="384048" y="1664208"/>
            <a:ext cx="2560320" cy="3840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Young First-Time Investors</a:t>
            </a:r>
            <a:endParaRPr lang="en-US" sz="1300" dirty="0"/>
          </a:p>
        </p:txBody>
      </p:sp>
      <p:sp>
        <p:nvSpPr>
          <p:cNvPr id="11" name="Text 8"/>
          <p:cNvSpPr/>
          <p:nvPr/>
        </p:nvSpPr>
        <p:spPr>
          <a:xfrm>
            <a:off x="384048" y="2029968"/>
            <a:ext cx="2560320" cy="256032"/>
          </a:xfrm>
          <a:prstGeom prst="rect">
            <a:avLst/>
          </a:prstGeom>
          <a:noFill/>
          <a:ln/>
        </p:spPr>
        <p:txBody>
          <a:bodyPr wrap="square" rtlCol="0" anchor="ctr"/>
          <a:lstStyle/>
          <a:p>
            <a:pPr algn="ctr" indent="0" marL="0">
              <a:buNone/>
            </a:pPr>
            <a:r>
              <a:rPr lang="en-US" sz="1100" dirty="0">
                <a:solidFill>
                  <a:srgbClr val="00C2A8"/>
                </a:solidFill>
                <a:latin typeface="Calibri" pitchFamily="34" charset="0"/>
                <a:ea typeface="Calibri" pitchFamily="34" charset="-122"/>
                <a:cs typeface="Calibri" pitchFamily="34" charset="-120"/>
              </a:rPr>
              <a:t>Age 18–30</a:t>
            </a:r>
            <a:endParaRPr lang="en-US" sz="1100" dirty="0"/>
          </a:p>
        </p:txBody>
      </p:sp>
      <p:sp>
        <p:nvSpPr>
          <p:cNvPr id="12" name="Shape 9"/>
          <p:cNvSpPr/>
          <p:nvPr/>
        </p:nvSpPr>
        <p:spPr>
          <a:xfrm>
            <a:off x="384048" y="2322576"/>
            <a:ext cx="2560320" cy="27432"/>
          </a:xfrm>
          <a:prstGeom prst="rect">
            <a:avLst/>
          </a:prstGeom>
          <a:solidFill>
            <a:srgbClr val="1A3A5C"/>
          </a:solidFill>
          <a:ln w="12700">
            <a:solidFill>
              <a:srgbClr val="1A3A5C"/>
            </a:solidFill>
            <a:prstDash val="solid"/>
          </a:ln>
        </p:spPr>
      </p:sp>
      <p:sp>
        <p:nvSpPr>
          <p:cNvPr id="13" name="Text 10"/>
          <p:cNvSpPr/>
          <p:nvPr/>
        </p:nvSpPr>
        <p:spPr>
          <a:xfrm>
            <a:off x="411480" y="2395728"/>
            <a:ext cx="2514600" cy="822960"/>
          </a:xfrm>
          <a:prstGeom prst="rect">
            <a:avLst/>
          </a:prstGeom>
          <a:noFill/>
          <a:ln/>
        </p:spPr>
        <p:txBody>
          <a:bodyPr wrap="square" rtlCol="0" anchor="ctr"/>
          <a:lstStyle/>
          <a:p>
            <a:pPr indent="0" marL="0">
              <a:buNone/>
            </a:pPr>
            <a:r>
              <a:rPr lang="en-US" sz="950" dirty="0">
                <a:solidFill>
                  <a:srgbClr val="8FAAC3"/>
                </a:solidFill>
                <a:latin typeface="Calibri" pitchFamily="34" charset="0"/>
                <a:ea typeface="Calibri" pitchFamily="34" charset="-122"/>
                <a:cs typeface="Calibri" pitchFamily="34" charset="-120"/>
              </a:rPr>
              <a:t>University students and young professionals who want to start investing but find existing tools too complex or expensive. Need jargon-free advice with clear explanations.</a:t>
            </a:r>
            <a:endParaRPr lang="en-US" sz="950" dirty="0"/>
          </a:p>
        </p:txBody>
      </p:sp>
      <p:sp>
        <p:nvSpPr>
          <p:cNvPr id="14" name="Text 11"/>
          <p:cNvSpPr/>
          <p:nvPr/>
        </p:nvSpPr>
        <p:spPr>
          <a:xfrm>
            <a:off x="411480" y="3291840"/>
            <a:ext cx="2514600" cy="228600"/>
          </a:xfrm>
          <a:prstGeom prst="rect">
            <a:avLst/>
          </a:prstGeom>
          <a:noFill/>
          <a:ln/>
        </p:spPr>
        <p:txBody>
          <a:bodyPr wrap="square" rtlCol="0" anchor="ctr"/>
          <a:lstStyle/>
          <a:p>
            <a:pPr indent="0" marL="0">
              <a:buNone/>
            </a:pPr>
            <a:r>
              <a:rPr lang="en-US" sz="900" b="1" dirty="0">
                <a:solidFill>
                  <a:srgbClr val="00C2A8"/>
                </a:solidFill>
                <a:latin typeface="Calibri" pitchFamily="34" charset="0"/>
                <a:ea typeface="Calibri" pitchFamily="34" charset="-122"/>
                <a:cs typeface="Calibri" pitchFamily="34" charset="-120"/>
              </a:rPr>
              <a:t>NEEDS:</a:t>
            </a:r>
            <a:endParaRPr lang="en-US" sz="900" dirty="0"/>
          </a:p>
        </p:txBody>
      </p:sp>
      <p:pic>
        <p:nvPicPr>
          <p:cNvPr id="15" name="Image 1" descr="preencoded.png">    </p:cNvPr>
          <p:cNvPicPr>
            <a:picLocks noChangeAspect="1"/>
          </p:cNvPicPr>
          <p:nvPr/>
        </p:nvPicPr>
        <p:blipFill>
          <a:blip r:embed="rId2"/>
          <a:stretch>
            <a:fillRect/>
          </a:stretch>
        </p:blipFill>
        <p:spPr>
          <a:xfrm>
            <a:off x="438912" y="3547872"/>
            <a:ext cx="182880" cy="182880"/>
          </a:xfrm>
          <a:prstGeom prst="rect">
            <a:avLst/>
          </a:prstGeom>
        </p:spPr>
      </p:pic>
      <p:sp>
        <p:nvSpPr>
          <p:cNvPr id="16" name="Text 12"/>
          <p:cNvSpPr/>
          <p:nvPr/>
        </p:nvSpPr>
        <p:spPr>
          <a:xfrm>
            <a:off x="685800" y="3520440"/>
            <a:ext cx="2267712" cy="301752"/>
          </a:xfrm>
          <a:prstGeom prst="rect">
            <a:avLst/>
          </a:prstGeom>
          <a:noFill/>
          <a:ln/>
        </p:spPr>
        <p:txBody>
          <a:bodyPr wrap="square" rtlCol="0" anchor="ctr"/>
          <a:lstStyle/>
          <a:p>
            <a:pPr indent="0" marL="0">
              <a:buNone/>
            </a:pPr>
            <a:r>
              <a:rPr lang="en-US" sz="950" dirty="0">
                <a:solidFill>
                  <a:srgbClr val="8FAAC3"/>
                </a:solidFill>
                <a:latin typeface="Calibri" pitchFamily="34" charset="0"/>
                <a:ea typeface="Calibri" pitchFamily="34" charset="-122"/>
                <a:cs typeface="Calibri" pitchFamily="34" charset="-120"/>
              </a:rPr>
              <a:t>Simple BUY/SELL recommendation</a:t>
            </a:r>
            <a:endParaRPr lang="en-US" sz="950" dirty="0"/>
          </a:p>
        </p:txBody>
      </p:sp>
      <p:pic>
        <p:nvPicPr>
          <p:cNvPr id="17" name="Image 2" descr="preencoded.png">    </p:cNvPr>
          <p:cNvPicPr>
            <a:picLocks noChangeAspect="1"/>
          </p:cNvPicPr>
          <p:nvPr/>
        </p:nvPicPr>
        <p:blipFill>
          <a:blip r:embed="rId3"/>
          <a:stretch>
            <a:fillRect/>
          </a:stretch>
        </p:blipFill>
        <p:spPr>
          <a:xfrm>
            <a:off x="438912" y="3895344"/>
            <a:ext cx="182880" cy="182880"/>
          </a:xfrm>
          <a:prstGeom prst="rect">
            <a:avLst/>
          </a:prstGeom>
        </p:spPr>
      </p:pic>
      <p:sp>
        <p:nvSpPr>
          <p:cNvPr id="18" name="Text 13"/>
          <p:cNvSpPr/>
          <p:nvPr/>
        </p:nvSpPr>
        <p:spPr>
          <a:xfrm>
            <a:off x="685800" y="3867912"/>
            <a:ext cx="2267712" cy="301752"/>
          </a:xfrm>
          <a:prstGeom prst="rect">
            <a:avLst/>
          </a:prstGeom>
          <a:noFill/>
          <a:ln/>
        </p:spPr>
        <p:txBody>
          <a:bodyPr wrap="square" rtlCol="0" anchor="ctr"/>
          <a:lstStyle/>
          <a:p>
            <a:pPr indent="0" marL="0">
              <a:buNone/>
            </a:pPr>
            <a:r>
              <a:rPr lang="en-US" sz="950" dirty="0">
                <a:solidFill>
                  <a:srgbClr val="8FAAC3"/>
                </a:solidFill>
                <a:latin typeface="Calibri" pitchFamily="34" charset="0"/>
                <a:ea typeface="Calibri" pitchFamily="34" charset="-122"/>
                <a:cs typeface="Calibri" pitchFamily="34" charset="-120"/>
              </a:rPr>
              <a:t>Plain English explanations</a:t>
            </a:r>
            <a:endParaRPr lang="en-US" sz="950" dirty="0"/>
          </a:p>
        </p:txBody>
      </p:sp>
      <p:pic>
        <p:nvPicPr>
          <p:cNvPr id="19" name="Image 3" descr="preencoded.png">    </p:cNvPr>
          <p:cNvPicPr>
            <a:picLocks noChangeAspect="1"/>
          </p:cNvPicPr>
          <p:nvPr/>
        </p:nvPicPr>
        <p:blipFill>
          <a:blip r:embed="rId4"/>
          <a:stretch>
            <a:fillRect/>
          </a:stretch>
        </p:blipFill>
        <p:spPr>
          <a:xfrm>
            <a:off x="438912" y="4242816"/>
            <a:ext cx="182880" cy="182880"/>
          </a:xfrm>
          <a:prstGeom prst="rect">
            <a:avLst/>
          </a:prstGeom>
        </p:spPr>
      </p:pic>
      <p:sp>
        <p:nvSpPr>
          <p:cNvPr id="20" name="Text 14"/>
          <p:cNvSpPr/>
          <p:nvPr/>
        </p:nvSpPr>
        <p:spPr>
          <a:xfrm>
            <a:off x="685800" y="4215384"/>
            <a:ext cx="2267712" cy="301752"/>
          </a:xfrm>
          <a:prstGeom prst="rect">
            <a:avLst/>
          </a:prstGeom>
          <a:noFill/>
          <a:ln/>
        </p:spPr>
        <p:txBody>
          <a:bodyPr wrap="square" rtlCol="0" anchor="ctr"/>
          <a:lstStyle/>
          <a:p>
            <a:pPr indent="0" marL="0">
              <a:buNone/>
            </a:pPr>
            <a:r>
              <a:rPr lang="en-US" sz="950" dirty="0">
                <a:solidFill>
                  <a:srgbClr val="8FAAC3"/>
                </a:solidFill>
                <a:latin typeface="Calibri" pitchFamily="34" charset="0"/>
                <a:ea typeface="Calibri" pitchFamily="34" charset="-122"/>
                <a:cs typeface="Calibri" pitchFamily="34" charset="-120"/>
              </a:rPr>
              <a:t>Free to use</a:t>
            </a:r>
            <a:endParaRPr lang="en-US" sz="950" dirty="0"/>
          </a:p>
        </p:txBody>
      </p:sp>
      <p:pic>
        <p:nvPicPr>
          <p:cNvPr id="21" name="Image 4" descr="preencoded.png">    </p:cNvPr>
          <p:cNvPicPr>
            <a:picLocks noChangeAspect="1"/>
          </p:cNvPicPr>
          <p:nvPr/>
        </p:nvPicPr>
        <p:blipFill>
          <a:blip r:embed="rId5"/>
          <a:stretch>
            <a:fillRect/>
          </a:stretch>
        </p:blipFill>
        <p:spPr>
          <a:xfrm>
            <a:off x="438912" y="4590288"/>
            <a:ext cx="182880" cy="182880"/>
          </a:xfrm>
          <a:prstGeom prst="rect">
            <a:avLst/>
          </a:prstGeom>
        </p:spPr>
      </p:pic>
      <p:sp>
        <p:nvSpPr>
          <p:cNvPr id="22" name="Text 15"/>
          <p:cNvSpPr/>
          <p:nvPr/>
        </p:nvSpPr>
        <p:spPr>
          <a:xfrm>
            <a:off x="685800" y="4562856"/>
            <a:ext cx="2267712" cy="301752"/>
          </a:xfrm>
          <a:prstGeom prst="rect">
            <a:avLst/>
          </a:prstGeom>
          <a:noFill/>
          <a:ln/>
        </p:spPr>
        <p:txBody>
          <a:bodyPr wrap="square" rtlCol="0" anchor="ctr"/>
          <a:lstStyle/>
          <a:p>
            <a:pPr indent="0" marL="0">
              <a:buNone/>
            </a:pPr>
            <a:r>
              <a:rPr lang="en-US" sz="950" dirty="0">
                <a:solidFill>
                  <a:srgbClr val="8FAAC3"/>
                </a:solidFill>
                <a:latin typeface="Calibri" pitchFamily="34" charset="0"/>
                <a:ea typeface="Calibri" pitchFamily="34" charset="-122"/>
                <a:cs typeface="Calibri" pitchFamily="34" charset="-120"/>
              </a:rPr>
              <a:t>No financial expertise required</a:t>
            </a:r>
            <a:endParaRPr lang="en-US" sz="950" dirty="0"/>
          </a:p>
        </p:txBody>
      </p:sp>
      <p:sp>
        <p:nvSpPr>
          <p:cNvPr id="23" name="Shape 16"/>
          <p:cNvSpPr/>
          <p:nvPr/>
        </p:nvSpPr>
        <p:spPr>
          <a:xfrm>
            <a:off x="3200400" y="1005840"/>
            <a:ext cx="2788920" cy="3931920"/>
          </a:xfrm>
          <a:prstGeom prst="rect">
            <a:avLst/>
          </a:prstGeom>
          <a:solidFill>
            <a:srgbClr val="112240"/>
          </a:solidFill>
          <a:ln w="12700">
            <a:solidFill>
              <a:srgbClr val="1A3A5C"/>
            </a:solidFill>
            <a:prstDash val="solid"/>
          </a:ln>
        </p:spPr>
      </p:sp>
      <p:sp>
        <p:nvSpPr>
          <p:cNvPr id="24" name="Shape 17"/>
          <p:cNvSpPr/>
          <p:nvPr/>
        </p:nvSpPr>
        <p:spPr>
          <a:xfrm>
            <a:off x="3200400" y="1005840"/>
            <a:ext cx="2788920" cy="45720"/>
          </a:xfrm>
          <a:prstGeom prst="rect">
            <a:avLst/>
          </a:prstGeom>
          <a:solidFill>
            <a:srgbClr val="FFD166"/>
          </a:solidFill>
          <a:ln w="12700">
            <a:solidFill>
              <a:srgbClr val="FFD166"/>
            </a:solidFill>
            <a:prstDash val="solid"/>
          </a:ln>
        </p:spPr>
      </p:sp>
      <p:sp>
        <p:nvSpPr>
          <p:cNvPr id="25" name="Shape 18"/>
          <p:cNvSpPr/>
          <p:nvPr/>
        </p:nvSpPr>
        <p:spPr>
          <a:xfrm>
            <a:off x="3310128" y="1078992"/>
            <a:ext cx="1005840" cy="237744"/>
          </a:xfrm>
          <a:prstGeom prst="rect">
            <a:avLst/>
          </a:prstGeom>
          <a:solidFill>
            <a:srgbClr val="FFD166"/>
          </a:solidFill>
          <a:ln w="12700">
            <a:solidFill>
              <a:srgbClr val="FFD166"/>
            </a:solidFill>
            <a:prstDash val="solid"/>
          </a:ln>
        </p:spPr>
      </p:sp>
      <p:sp>
        <p:nvSpPr>
          <p:cNvPr id="26" name="Text 19"/>
          <p:cNvSpPr/>
          <p:nvPr/>
        </p:nvSpPr>
        <p:spPr>
          <a:xfrm>
            <a:off x="3310128" y="1078992"/>
            <a:ext cx="1005840" cy="237744"/>
          </a:xfrm>
          <a:prstGeom prst="rect">
            <a:avLst/>
          </a:prstGeom>
          <a:noFill/>
          <a:ln/>
        </p:spPr>
        <p:txBody>
          <a:bodyPr wrap="square" lIns="0" tIns="0" rIns="0" bIns="0" rtlCol="0" anchor="ctr"/>
          <a:lstStyle/>
          <a:p>
            <a:pPr algn="ctr" indent="0" marL="0">
              <a:buNone/>
            </a:pPr>
            <a:r>
              <a:rPr lang="en-US" sz="800" b="1" dirty="0">
                <a:solidFill>
                  <a:srgbClr val="0A1628"/>
                </a:solidFill>
              </a:rPr>
              <a:t>SECONDARY</a:t>
            </a:r>
            <a:endParaRPr lang="en-US" sz="800" dirty="0"/>
          </a:p>
        </p:txBody>
      </p:sp>
      <p:pic>
        <p:nvPicPr>
          <p:cNvPr id="27" name="Image 5" descr="preencoded.png">    </p:cNvPr>
          <p:cNvPicPr>
            <a:picLocks noChangeAspect="1"/>
          </p:cNvPicPr>
          <p:nvPr/>
        </p:nvPicPr>
        <p:blipFill>
          <a:blip r:embed="rId6"/>
          <a:stretch>
            <a:fillRect/>
          </a:stretch>
        </p:blipFill>
        <p:spPr>
          <a:xfrm>
            <a:off x="4370832" y="1051560"/>
            <a:ext cx="502920" cy="502920"/>
          </a:xfrm>
          <a:prstGeom prst="rect">
            <a:avLst/>
          </a:prstGeom>
        </p:spPr>
      </p:pic>
      <p:sp>
        <p:nvSpPr>
          <p:cNvPr id="28" name="Text 20"/>
          <p:cNvSpPr/>
          <p:nvPr/>
        </p:nvSpPr>
        <p:spPr>
          <a:xfrm>
            <a:off x="3310128" y="1664208"/>
            <a:ext cx="2560320" cy="3840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CS &amp; Finance Students</a:t>
            </a:r>
            <a:endParaRPr lang="en-US" sz="1300" dirty="0"/>
          </a:p>
        </p:txBody>
      </p:sp>
      <p:sp>
        <p:nvSpPr>
          <p:cNvPr id="29" name="Text 21"/>
          <p:cNvSpPr/>
          <p:nvPr/>
        </p:nvSpPr>
        <p:spPr>
          <a:xfrm>
            <a:off x="3310128" y="2029968"/>
            <a:ext cx="2560320" cy="256032"/>
          </a:xfrm>
          <a:prstGeom prst="rect">
            <a:avLst/>
          </a:prstGeom>
          <a:noFill/>
          <a:ln/>
        </p:spPr>
        <p:txBody>
          <a:bodyPr wrap="square" rtlCol="0" anchor="ctr"/>
          <a:lstStyle/>
          <a:p>
            <a:pPr algn="ctr" indent="0" marL="0">
              <a:buNone/>
            </a:pPr>
            <a:r>
              <a:rPr lang="en-US" sz="1100" dirty="0">
                <a:solidFill>
                  <a:srgbClr val="FFD166"/>
                </a:solidFill>
                <a:latin typeface="Calibri" pitchFamily="34" charset="0"/>
                <a:ea typeface="Calibri" pitchFamily="34" charset="-122"/>
                <a:cs typeface="Calibri" pitchFamily="34" charset="-120"/>
              </a:rPr>
              <a:t>Age 18–25</a:t>
            </a:r>
            <a:endParaRPr lang="en-US" sz="1100" dirty="0"/>
          </a:p>
        </p:txBody>
      </p:sp>
      <p:sp>
        <p:nvSpPr>
          <p:cNvPr id="30" name="Shape 22"/>
          <p:cNvSpPr/>
          <p:nvPr/>
        </p:nvSpPr>
        <p:spPr>
          <a:xfrm>
            <a:off x="3310128" y="2322576"/>
            <a:ext cx="2560320" cy="27432"/>
          </a:xfrm>
          <a:prstGeom prst="rect">
            <a:avLst/>
          </a:prstGeom>
          <a:solidFill>
            <a:srgbClr val="1A3A5C"/>
          </a:solidFill>
          <a:ln w="12700">
            <a:solidFill>
              <a:srgbClr val="1A3A5C"/>
            </a:solidFill>
            <a:prstDash val="solid"/>
          </a:ln>
        </p:spPr>
      </p:sp>
      <p:sp>
        <p:nvSpPr>
          <p:cNvPr id="31" name="Text 23"/>
          <p:cNvSpPr/>
          <p:nvPr/>
        </p:nvSpPr>
        <p:spPr>
          <a:xfrm>
            <a:off x="3337560" y="2395728"/>
            <a:ext cx="2514600" cy="822960"/>
          </a:xfrm>
          <a:prstGeom prst="rect">
            <a:avLst/>
          </a:prstGeom>
          <a:noFill/>
          <a:ln/>
        </p:spPr>
        <p:txBody>
          <a:bodyPr wrap="square" rtlCol="0" anchor="ctr"/>
          <a:lstStyle/>
          <a:p>
            <a:pPr indent="0" marL="0">
              <a:buNone/>
            </a:pPr>
            <a:r>
              <a:rPr lang="en-US" sz="950" dirty="0">
                <a:solidFill>
                  <a:srgbClr val="8FAAC3"/>
                </a:solidFill>
                <a:latin typeface="Calibri" pitchFamily="34" charset="0"/>
                <a:ea typeface="Calibri" pitchFamily="34" charset="-122"/>
                <a:cs typeface="Calibri" pitchFamily="34" charset="-120"/>
              </a:rPr>
              <a:t>Students studying Computer Science, Finance or Data Science who want to see a real-world ML pipeline applied to financial data as a learning tool.</a:t>
            </a:r>
            <a:endParaRPr lang="en-US" sz="950" dirty="0"/>
          </a:p>
        </p:txBody>
      </p:sp>
      <p:sp>
        <p:nvSpPr>
          <p:cNvPr id="32" name="Text 24"/>
          <p:cNvSpPr/>
          <p:nvPr/>
        </p:nvSpPr>
        <p:spPr>
          <a:xfrm>
            <a:off x="3337560" y="3291840"/>
            <a:ext cx="2514600" cy="228600"/>
          </a:xfrm>
          <a:prstGeom prst="rect">
            <a:avLst/>
          </a:prstGeom>
          <a:noFill/>
          <a:ln/>
        </p:spPr>
        <p:txBody>
          <a:bodyPr wrap="square" rtlCol="0" anchor="ctr"/>
          <a:lstStyle/>
          <a:p>
            <a:pPr indent="0" marL="0">
              <a:buNone/>
            </a:pPr>
            <a:r>
              <a:rPr lang="en-US" sz="900" b="1" dirty="0">
                <a:solidFill>
                  <a:srgbClr val="FFD166"/>
                </a:solidFill>
                <a:latin typeface="Calibri" pitchFamily="34" charset="0"/>
                <a:ea typeface="Calibri" pitchFamily="34" charset="-122"/>
                <a:cs typeface="Calibri" pitchFamily="34" charset="-120"/>
              </a:rPr>
              <a:t>NEEDS:</a:t>
            </a:r>
            <a:endParaRPr lang="en-US" sz="900" dirty="0"/>
          </a:p>
        </p:txBody>
      </p:sp>
      <p:pic>
        <p:nvPicPr>
          <p:cNvPr id="33" name="Image 6" descr="preencoded.png">    </p:cNvPr>
          <p:cNvPicPr>
            <a:picLocks noChangeAspect="1"/>
          </p:cNvPicPr>
          <p:nvPr/>
        </p:nvPicPr>
        <p:blipFill>
          <a:blip r:embed="rId7"/>
          <a:stretch>
            <a:fillRect/>
          </a:stretch>
        </p:blipFill>
        <p:spPr>
          <a:xfrm>
            <a:off x="3364992" y="3547872"/>
            <a:ext cx="182880" cy="182880"/>
          </a:xfrm>
          <a:prstGeom prst="rect">
            <a:avLst/>
          </a:prstGeom>
        </p:spPr>
      </p:pic>
      <p:sp>
        <p:nvSpPr>
          <p:cNvPr id="34" name="Text 25"/>
          <p:cNvSpPr/>
          <p:nvPr/>
        </p:nvSpPr>
        <p:spPr>
          <a:xfrm>
            <a:off x="3611880" y="3520440"/>
            <a:ext cx="2267712" cy="301752"/>
          </a:xfrm>
          <a:prstGeom prst="rect">
            <a:avLst/>
          </a:prstGeom>
          <a:noFill/>
          <a:ln/>
        </p:spPr>
        <p:txBody>
          <a:bodyPr wrap="square" rtlCol="0" anchor="ctr"/>
          <a:lstStyle/>
          <a:p>
            <a:pPr indent="0" marL="0">
              <a:buNone/>
            </a:pPr>
            <a:r>
              <a:rPr lang="en-US" sz="950" dirty="0">
                <a:solidFill>
                  <a:srgbClr val="8FAAC3"/>
                </a:solidFill>
                <a:latin typeface="Calibri" pitchFamily="34" charset="0"/>
                <a:ea typeface="Calibri" pitchFamily="34" charset="-122"/>
                <a:cs typeface="Calibri" pitchFamily="34" charset="-120"/>
              </a:rPr>
              <a:t>See full ML pipeline in action</a:t>
            </a:r>
            <a:endParaRPr lang="en-US" sz="950" dirty="0"/>
          </a:p>
        </p:txBody>
      </p:sp>
      <p:pic>
        <p:nvPicPr>
          <p:cNvPr id="35" name="Image 7" descr="preencoded.png">    </p:cNvPr>
          <p:cNvPicPr>
            <a:picLocks noChangeAspect="1"/>
          </p:cNvPicPr>
          <p:nvPr/>
        </p:nvPicPr>
        <p:blipFill>
          <a:blip r:embed="rId8"/>
          <a:stretch>
            <a:fillRect/>
          </a:stretch>
        </p:blipFill>
        <p:spPr>
          <a:xfrm>
            <a:off x="3364992" y="3895344"/>
            <a:ext cx="182880" cy="182880"/>
          </a:xfrm>
          <a:prstGeom prst="rect">
            <a:avLst/>
          </a:prstGeom>
        </p:spPr>
      </p:pic>
      <p:sp>
        <p:nvSpPr>
          <p:cNvPr id="36" name="Text 26"/>
          <p:cNvSpPr/>
          <p:nvPr/>
        </p:nvSpPr>
        <p:spPr>
          <a:xfrm>
            <a:off x="3611880" y="3867912"/>
            <a:ext cx="2267712" cy="301752"/>
          </a:xfrm>
          <a:prstGeom prst="rect">
            <a:avLst/>
          </a:prstGeom>
          <a:noFill/>
          <a:ln/>
        </p:spPr>
        <p:txBody>
          <a:bodyPr wrap="square" rtlCol="0" anchor="ctr"/>
          <a:lstStyle/>
          <a:p>
            <a:pPr indent="0" marL="0">
              <a:buNone/>
            </a:pPr>
            <a:r>
              <a:rPr lang="en-US" sz="950" dirty="0">
                <a:solidFill>
                  <a:srgbClr val="8FAAC3"/>
                </a:solidFill>
                <a:latin typeface="Calibri" pitchFamily="34" charset="0"/>
                <a:ea typeface="Calibri" pitchFamily="34" charset="-122"/>
                <a:cs typeface="Calibri" pitchFamily="34" charset="-120"/>
              </a:rPr>
              <a:t>Understand feature importance</a:t>
            </a:r>
            <a:endParaRPr lang="en-US" sz="950" dirty="0"/>
          </a:p>
        </p:txBody>
      </p:sp>
      <p:pic>
        <p:nvPicPr>
          <p:cNvPr id="37" name="Image 8" descr="preencoded.png">    </p:cNvPr>
          <p:cNvPicPr>
            <a:picLocks noChangeAspect="1"/>
          </p:cNvPicPr>
          <p:nvPr/>
        </p:nvPicPr>
        <p:blipFill>
          <a:blip r:embed="rId9"/>
          <a:stretch>
            <a:fillRect/>
          </a:stretch>
        </p:blipFill>
        <p:spPr>
          <a:xfrm>
            <a:off x="3364992" y="4242816"/>
            <a:ext cx="182880" cy="182880"/>
          </a:xfrm>
          <a:prstGeom prst="rect">
            <a:avLst/>
          </a:prstGeom>
        </p:spPr>
      </p:pic>
      <p:sp>
        <p:nvSpPr>
          <p:cNvPr id="38" name="Text 27"/>
          <p:cNvSpPr/>
          <p:nvPr/>
        </p:nvSpPr>
        <p:spPr>
          <a:xfrm>
            <a:off x="3611880" y="4215384"/>
            <a:ext cx="2267712" cy="301752"/>
          </a:xfrm>
          <a:prstGeom prst="rect">
            <a:avLst/>
          </a:prstGeom>
          <a:noFill/>
          <a:ln/>
        </p:spPr>
        <p:txBody>
          <a:bodyPr wrap="square" rtlCol="0" anchor="ctr"/>
          <a:lstStyle/>
          <a:p>
            <a:pPr indent="0" marL="0">
              <a:buNone/>
            </a:pPr>
            <a:r>
              <a:rPr lang="en-US" sz="950" dirty="0">
                <a:solidFill>
                  <a:srgbClr val="8FAAC3"/>
                </a:solidFill>
                <a:latin typeface="Calibri" pitchFamily="34" charset="0"/>
                <a:ea typeface="Calibri" pitchFamily="34" charset="-122"/>
                <a:cs typeface="Calibri" pitchFamily="34" charset="-120"/>
              </a:rPr>
              <a:t>Educational case study</a:t>
            </a:r>
            <a:endParaRPr lang="en-US" sz="950" dirty="0"/>
          </a:p>
        </p:txBody>
      </p:sp>
      <p:pic>
        <p:nvPicPr>
          <p:cNvPr id="39" name="Image 9" descr="preencoded.png">    </p:cNvPr>
          <p:cNvPicPr>
            <a:picLocks noChangeAspect="1"/>
          </p:cNvPicPr>
          <p:nvPr/>
        </p:nvPicPr>
        <p:blipFill>
          <a:blip r:embed="rId10"/>
          <a:stretch>
            <a:fillRect/>
          </a:stretch>
        </p:blipFill>
        <p:spPr>
          <a:xfrm>
            <a:off x="3364992" y="4590288"/>
            <a:ext cx="182880" cy="182880"/>
          </a:xfrm>
          <a:prstGeom prst="rect">
            <a:avLst/>
          </a:prstGeom>
        </p:spPr>
      </p:pic>
      <p:sp>
        <p:nvSpPr>
          <p:cNvPr id="40" name="Text 28"/>
          <p:cNvSpPr/>
          <p:nvPr/>
        </p:nvSpPr>
        <p:spPr>
          <a:xfrm>
            <a:off x="3611880" y="4562856"/>
            <a:ext cx="2267712" cy="301752"/>
          </a:xfrm>
          <a:prstGeom prst="rect">
            <a:avLst/>
          </a:prstGeom>
          <a:noFill/>
          <a:ln/>
        </p:spPr>
        <p:txBody>
          <a:bodyPr wrap="square" rtlCol="0" anchor="ctr"/>
          <a:lstStyle/>
          <a:p>
            <a:pPr indent="0" marL="0">
              <a:buNone/>
            </a:pPr>
            <a:r>
              <a:rPr lang="en-US" sz="950" dirty="0">
                <a:solidFill>
                  <a:srgbClr val="8FAAC3"/>
                </a:solidFill>
                <a:latin typeface="Calibri" pitchFamily="34" charset="0"/>
                <a:ea typeface="Calibri" pitchFamily="34" charset="-122"/>
                <a:cs typeface="Calibri" pitchFamily="34" charset="-120"/>
              </a:rPr>
              <a:t>View model performance metrics</a:t>
            </a:r>
            <a:endParaRPr lang="en-US" sz="950" dirty="0"/>
          </a:p>
        </p:txBody>
      </p:sp>
      <p:sp>
        <p:nvSpPr>
          <p:cNvPr id="41" name="Shape 29"/>
          <p:cNvSpPr/>
          <p:nvPr/>
        </p:nvSpPr>
        <p:spPr>
          <a:xfrm>
            <a:off x="6126480" y="1005840"/>
            <a:ext cx="2788920" cy="3931920"/>
          </a:xfrm>
          <a:prstGeom prst="rect">
            <a:avLst/>
          </a:prstGeom>
          <a:solidFill>
            <a:srgbClr val="112240"/>
          </a:solidFill>
          <a:ln w="12700">
            <a:solidFill>
              <a:srgbClr val="1A3A5C"/>
            </a:solidFill>
            <a:prstDash val="solid"/>
          </a:ln>
        </p:spPr>
      </p:sp>
      <p:sp>
        <p:nvSpPr>
          <p:cNvPr id="42" name="Shape 30"/>
          <p:cNvSpPr/>
          <p:nvPr/>
        </p:nvSpPr>
        <p:spPr>
          <a:xfrm>
            <a:off x="6126480" y="1005840"/>
            <a:ext cx="2788920" cy="45720"/>
          </a:xfrm>
          <a:prstGeom prst="rect">
            <a:avLst/>
          </a:prstGeom>
          <a:solidFill>
            <a:srgbClr val="8FAAC3"/>
          </a:solidFill>
          <a:ln w="12700">
            <a:solidFill>
              <a:srgbClr val="8FAAC3"/>
            </a:solidFill>
            <a:prstDash val="solid"/>
          </a:ln>
        </p:spPr>
      </p:sp>
      <p:sp>
        <p:nvSpPr>
          <p:cNvPr id="43" name="Shape 31"/>
          <p:cNvSpPr/>
          <p:nvPr/>
        </p:nvSpPr>
        <p:spPr>
          <a:xfrm>
            <a:off x="6236208" y="1078992"/>
            <a:ext cx="1005840" cy="237744"/>
          </a:xfrm>
          <a:prstGeom prst="rect">
            <a:avLst/>
          </a:prstGeom>
          <a:solidFill>
            <a:srgbClr val="8FAAC3"/>
          </a:solidFill>
          <a:ln w="12700">
            <a:solidFill>
              <a:srgbClr val="8FAAC3"/>
            </a:solidFill>
            <a:prstDash val="solid"/>
          </a:ln>
        </p:spPr>
      </p:sp>
      <p:sp>
        <p:nvSpPr>
          <p:cNvPr id="44" name="Text 32"/>
          <p:cNvSpPr/>
          <p:nvPr/>
        </p:nvSpPr>
        <p:spPr>
          <a:xfrm>
            <a:off x="6236208" y="1078992"/>
            <a:ext cx="1005840" cy="237744"/>
          </a:xfrm>
          <a:prstGeom prst="rect">
            <a:avLst/>
          </a:prstGeom>
          <a:noFill/>
          <a:ln/>
        </p:spPr>
        <p:txBody>
          <a:bodyPr wrap="square" lIns="0" tIns="0" rIns="0" bIns="0" rtlCol="0" anchor="ctr"/>
          <a:lstStyle/>
          <a:p>
            <a:pPr algn="ctr" indent="0" marL="0">
              <a:buNone/>
            </a:pPr>
            <a:r>
              <a:rPr lang="en-US" sz="800" b="1" dirty="0">
                <a:solidFill>
                  <a:srgbClr val="0A1628"/>
                </a:solidFill>
              </a:rPr>
              <a:t>TERTIARY</a:t>
            </a:r>
            <a:endParaRPr lang="en-US" sz="800" dirty="0"/>
          </a:p>
        </p:txBody>
      </p:sp>
      <p:pic>
        <p:nvPicPr>
          <p:cNvPr id="45" name="Image 10" descr="preencoded.png">    </p:cNvPr>
          <p:cNvPicPr>
            <a:picLocks noChangeAspect="1"/>
          </p:cNvPicPr>
          <p:nvPr/>
        </p:nvPicPr>
        <p:blipFill>
          <a:blip r:embed="rId11"/>
          <a:stretch>
            <a:fillRect/>
          </a:stretch>
        </p:blipFill>
        <p:spPr>
          <a:xfrm>
            <a:off x="7296912" y="1051560"/>
            <a:ext cx="502920" cy="502920"/>
          </a:xfrm>
          <a:prstGeom prst="rect">
            <a:avLst/>
          </a:prstGeom>
        </p:spPr>
      </p:pic>
      <p:sp>
        <p:nvSpPr>
          <p:cNvPr id="46" name="Text 33"/>
          <p:cNvSpPr/>
          <p:nvPr/>
        </p:nvSpPr>
        <p:spPr>
          <a:xfrm>
            <a:off x="6236208" y="1664208"/>
            <a:ext cx="2560320" cy="3840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Small Retail Investors</a:t>
            </a:r>
            <a:endParaRPr lang="en-US" sz="1300" dirty="0"/>
          </a:p>
        </p:txBody>
      </p:sp>
      <p:sp>
        <p:nvSpPr>
          <p:cNvPr id="47" name="Text 34"/>
          <p:cNvSpPr/>
          <p:nvPr/>
        </p:nvSpPr>
        <p:spPr>
          <a:xfrm>
            <a:off x="6236208" y="2029968"/>
            <a:ext cx="2560320" cy="256032"/>
          </a:xfrm>
          <a:prstGeom prst="rect">
            <a:avLst/>
          </a:prstGeom>
          <a:noFill/>
          <a:ln/>
        </p:spPr>
        <p:txBody>
          <a:bodyPr wrap="square" rtlCol="0" anchor="ctr"/>
          <a:lstStyle/>
          <a:p>
            <a:pPr algn="ctr" indent="0" marL="0">
              <a:buNone/>
            </a:pPr>
            <a:r>
              <a:rPr lang="en-US" sz="1100" dirty="0">
                <a:solidFill>
                  <a:srgbClr val="8FAAC3"/>
                </a:solidFill>
                <a:latin typeface="Calibri" pitchFamily="34" charset="0"/>
                <a:ea typeface="Calibri" pitchFamily="34" charset="-122"/>
                <a:cs typeface="Calibri" pitchFamily="34" charset="-120"/>
              </a:rPr>
              <a:t>Age 30–55</a:t>
            </a:r>
            <a:endParaRPr lang="en-US" sz="1100" dirty="0"/>
          </a:p>
        </p:txBody>
      </p:sp>
      <p:sp>
        <p:nvSpPr>
          <p:cNvPr id="48" name="Shape 35"/>
          <p:cNvSpPr/>
          <p:nvPr/>
        </p:nvSpPr>
        <p:spPr>
          <a:xfrm>
            <a:off x="6236208" y="2322576"/>
            <a:ext cx="2560320" cy="27432"/>
          </a:xfrm>
          <a:prstGeom prst="rect">
            <a:avLst/>
          </a:prstGeom>
          <a:solidFill>
            <a:srgbClr val="1A3A5C"/>
          </a:solidFill>
          <a:ln w="12700">
            <a:solidFill>
              <a:srgbClr val="1A3A5C"/>
            </a:solidFill>
            <a:prstDash val="solid"/>
          </a:ln>
        </p:spPr>
      </p:sp>
      <p:sp>
        <p:nvSpPr>
          <p:cNvPr id="49" name="Text 36"/>
          <p:cNvSpPr/>
          <p:nvPr/>
        </p:nvSpPr>
        <p:spPr>
          <a:xfrm>
            <a:off x="6263640" y="2395728"/>
            <a:ext cx="2514600" cy="822960"/>
          </a:xfrm>
          <a:prstGeom prst="rect">
            <a:avLst/>
          </a:prstGeom>
          <a:noFill/>
          <a:ln/>
        </p:spPr>
        <p:txBody>
          <a:bodyPr wrap="square" rtlCol="0" anchor="ctr"/>
          <a:lstStyle/>
          <a:p>
            <a:pPr indent="0" marL="0">
              <a:buNone/>
            </a:pPr>
            <a:r>
              <a:rPr lang="en-US" sz="950" dirty="0">
                <a:solidFill>
                  <a:srgbClr val="8FAAC3"/>
                </a:solidFill>
                <a:latin typeface="Calibri" pitchFamily="34" charset="0"/>
                <a:ea typeface="Calibri" pitchFamily="34" charset="-122"/>
                <a:cs typeface="Calibri" pitchFamily="34" charset="-120"/>
              </a:rPr>
              <a:t>Working professionals with savings to invest who want a free, data-driven second opinion without the complexity of Bloomberg or the cost of a financial advisor.</a:t>
            </a:r>
            <a:endParaRPr lang="en-US" sz="950" dirty="0"/>
          </a:p>
        </p:txBody>
      </p:sp>
      <p:sp>
        <p:nvSpPr>
          <p:cNvPr id="50" name="Text 37"/>
          <p:cNvSpPr/>
          <p:nvPr/>
        </p:nvSpPr>
        <p:spPr>
          <a:xfrm>
            <a:off x="6263640" y="3291840"/>
            <a:ext cx="2514600" cy="228600"/>
          </a:xfrm>
          <a:prstGeom prst="rect">
            <a:avLst/>
          </a:prstGeom>
          <a:noFill/>
          <a:ln/>
        </p:spPr>
        <p:txBody>
          <a:bodyPr wrap="square" rtlCol="0" anchor="ctr"/>
          <a:lstStyle/>
          <a:p>
            <a:pPr indent="0" marL="0">
              <a:buNone/>
            </a:pPr>
            <a:r>
              <a:rPr lang="en-US" sz="900" b="1" dirty="0">
                <a:solidFill>
                  <a:srgbClr val="8FAAC3"/>
                </a:solidFill>
                <a:latin typeface="Calibri" pitchFamily="34" charset="0"/>
                <a:ea typeface="Calibri" pitchFamily="34" charset="-122"/>
                <a:cs typeface="Calibri" pitchFamily="34" charset="-120"/>
              </a:rPr>
              <a:t>NEEDS:</a:t>
            </a:r>
            <a:endParaRPr lang="en-US" sz="900" dirty="0"/>
          </a:p>
        </p:txBody>
      </p:sp>
      <p:pic>
        <p:nvPicPr>
          <p:cNvPr id="51" name="Image 11" descr="preencoded.png">    </p:cNvPr>
          <p:cNvPicPr>
            <a:picLocks noChangeAspect="1"/>
          </p:cNvPicPr>
          <p:nvPr/>
        </p:nvPicPr>
        <p:blipFill>
          <a:blip r:embed="rId12"/>
          <a:stretch>
            <a:fillRect/>
          </a:stretch>
        </p:blipFill>
        <p:spPr>
          <a:xfrm>
            <a:off x="6291072" y="3547872"/>
            <a:ext cx="182880" cy="182880"/>
          </a:xfrm>
          <a:prstGeom prst="rect">
            <a:avLst/>
          </a:prstGeom>
        </p:spPr>
      </p:pic>
      <p:sp>
        <p:nvSpPr>
          <p:cNvPr id="52" name="Text 38"/>
          <p:cNvSpPr/>
          <p:nvPr/>
        </p:nvSpPr>
        <p:spPr>
          <a:xfrm>
            <a:off x="6537960" y="3520440"/>
            <a:ext cx="2267712" cy="301752"/>
          </a:xfrm>
          <a:prstGeom prst="rect">
            <a:avLst/>
          </a:prstGeom>
          <a:noFill/>
          <a:ln/>
        </p:spPr>
        <p:txBody>
          <a:bodyPr wrap="square" rtlCol="0" anchor="ctr"/>
          <a:lstStyle/>
          <a:p>
            <a:pPr indent="0" marL="0">
              <a:buNone/>
            </a:pPr>
            <a:r>
              <a:rPr lang="en-US" sz="950" dirty="0">
                <a:solidFill>
                  <a:srgbClr val="8FAAC3"/>
                </a:solidFill>
                <a:latin typeface="Calibri" pitchFamily="34" charset="0"/>
                <a:ea typeface="Calibri" pitchFamily="34" charset="-122"/>
                <a:cs typeface="Calibri" pitchFamily="34" charset="-120"/>
              </a:rPr>
              <a:t>Quick stock analysis</a:t>
            </a:r>
            <a:endParaRPr lang="en-US" sz="950" dirty="0"/>
          </a:p>
        </p:txBody>
      </p:sp>
      <p:pic>
        <p:nvPicPr>
          <p:cNvPr id="53" name="Image 12" descr="preencoded.png">    </p:cNvPr>
          <p:cNvPicPr>
            <a:picLocks noChangeAspect="1"/>
          </p:cNvPicPr>
          <p:nvPr/>
        </p:nvPicPr>
        <p:blipFill>
          <a:blip r:embed="rId13"/>
          <a:stretch>
            <a:fillRect/>
          </a:stretch>
        </p:blipFill>
        <p:spPr>
          <a:xfrm>
            <a:off x="6291072" y="3895344"/>
            <a:ext cx="182880" cy="182880"/>
          </a:xfrm>
          <a:prstGeom prst="rect">
            <a:avLst/>
          </a:prstGeom>
        </p:spPr>
      </p:pic>
      <p:sp>
        <p:nvSpPr>
          <p:cNvPr id="54" name="Text 39"/>
          <p:cNvSpPr/>
          <p:nvPr/>
        </p:nvSpPr>
        <p:spPr>
          <a:xfrm>
            <a:off x="6537960" y="3867912"/>
            <a:ext cx="2267712" cy="301752"/>
          </a:xfrm>
          <a:prstGeom prst="rect">
            <a:avLst/>
          </a:prstGeom>
          <a:noFill/>
          <a:ln/>
        </p:spPr>
        <p:txBody>
          <a:bodyPr wrap="square" rtlCol="0" anchor="ctr"/>
          <a:lstStyle/>
          <a:p>
            <a:pPr indent="0" marL="0">
              <a:buNone/>
            </a:pPr>
            <a:r>
              <a:rPr lang="en-US" sz="950" dirty="0">
                <a:solidFill>
                  <a:srgbClr val="8FAAC3"/>
                </a:solidFill>
                <a:latin typeface="Calibri" pitchFamily="34" charset="0"/>
                <a:ea typeface="Calibri" pitchFamily="34" charset="-122"/>
                <a:cs typeface="Calibri" pitchFamily="34" charset="-120"/>
              </a:rPr>
              <a:t>Data-driven second opinion</a:t>
            </a:r>
            <a:endParaRPr lang="en-US" sz="950" dirty="0"/>
          </a:p>
        </p:txBody>
      </p:sp>
      <p:pic>
        <p:nvPicPr>
          <p:cNvPr id="55" name="Image 13" descr="preencoded.png">    </p:cNvPr>
          <p:cNvPicPr>
            <a:picLocks noChangeAspect="1"/>
          </p:cNvPicPr>
          <p:nvPr/>
        </p:nvPicPr>
        <p:blipFill>
          <a:blip r:embed="rId14"/>
          <a:stretch>
            <a:fillRect/>
          </a:stretch>
        </p:blipFill>
        <p:spPr>
          <a:xfrm>
            <a:off x="6291072" y="4242816"/>
            <a:ext cx="182880" cy="182880"/>
          </a:xfrm>
          <a:prstGeom prst="rect">
            <a:avLst/>
          </a:prstGeom>
        </p:spPr>
      </p:pic>
      <p:sp>
        <p:nvSpPr>
          <p:cNvPr id="56" name="Text 40"/>
          <p:cNvSpPr/>
          <p:nvPr/>
        </p:nvSpPr>
        <p:spPr>
          <a:xfrm>
            <a:off x="6537960" y="4215384"/>
            <a:ext cx="2267712" cy="301752"/>
          </a:xfrm>
          <a:prstGeom prst="rect">
            <a:avLst/>
          </a:prstGeom>
          <a:noFill/>
          <a:ln/>
        </p:spPr>
        <p:txBody>
          <a:bodyPr wrap="square" rtlCol="0" anchor="ctr"/>
          <a:lstStyle/>
          <a:p>
            <a:pPr indent="0" marL="0">
              <a:buNone/>
            </a:pPr>
            <a:r>
              <a:rPr lang="en-US" sz="950" dirty="0">
                <a:solidFill>
                  <a:srgbClr val="8FAAC3"/>
                </a:solidFill>
                <a:latin typeface="Calibri" pitchFamily="34" charset="0"/>
                <a:ea typeface="Calibri" pitchFamily="34" charset="-122"/>
                <a:cs typeface="Calibri" pitchFamily="34" charset="-120"/>
              </a:rPr>
              <a:t>Multiple stock comparison</a:t>
            </a:r>
            <a:endParaRPr lang="en-US" sz="950" dirty="0"/>
          </a:p>
        </p:txBody>
      </p:sp>
      <p:pic>
        <p:nvPicPr>
          <p:cNvPr id="57" name="Image 14" descr="preencoded.png">    </p:cNvPr>
          <p:cNvPicPr>
            <a:picLocks noChangeAspect="1"/>
          </p:cNvPicPr>
          <p:nvPr/>
        </p:nvPicPr>
        <p:blipFill>
          <a:blip r:embed="rId15"/>
          <a:stretch>
            <a:fillRect/>
          </a:stretch>
        </p:blipFill>
        <p:spPr>
          <a:xfrm>
            <a:off x="6291072" y="4590288"/>
            <a:ext cx="182880" cy="182880"/>
          </a:xfrm>
          <a:prstGeom prst="rect">
            <a:avLst/>
          </a:prstGeom>
        </p:spPr>
      </p:pic>
      <p:sp>
        <p:nvSpPr>
          <p:cNvPr id="58" name="Text 41"/>
          <p:cNvSpPr/>
          <p:nvPr/>
        </p:nvSpPr>
        <p:spPr>
          <a:xfrm>
            <a:off x="6537960" y="4562856"/>
            <a:ext cx="2267712" cy="301752"/>
          </a:xfrm>
          <a:prstGeom prst="rect">
            <a:avLst/>
          </a:prstGeom>
          <a:noFill/>
          <a:ln/>
        </p:spPr>
        <p:txBody>
          <a:bodyPr wrap="square" rtlCol="0" anchor="ctr"/>
          <a:lstStyle/>
          <a:p>
            <a:pPr indent="0" marL="0">
              <a:buNone/>
            </a:pPr>
            <a:r>
              <a:rPr lang="en-US" sz="950" dirty="0">
                <a:solidFill>
                  <a:srgbClr val="8FAAC3"/>
                </a:solidFill>
                <a:latin typeface="Calibri" pitchFamily="34" charset="0"/>
                <a:ea typeface="Calibri" pitchFamily="34" charset="-122"/>
                <a:cs typeface="Calibri" pitchFamily="34" charset="-120"/>
              </a:rPr>
              <a:t>Risk indicators</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2137"/>
          </a:solidFill>
          <a:ln w="12700">
            <a:solidFill>
              <a:srgbClr val="0D2137"/>
            </a:solidFill>
            <a:prstDash val="solid"/>
          </a:ln>
        </p:spPr>
      </p:sp>
      <p:sp>
        <p:nvSpPr>
          <p:cNvPr id="3" name="Shape 1"/>
          <p:cNvSpPr/>
          <p:nvPr/>
        </p:nvSpPr>
        <p:spPr>
          <a:xfrm>
            <a:off x="0" y="868680"/>
            <a:ext cx="9144000" cy="45720"/>
          </a:xfrm>
          <a:prstGeom prst="rect">
            <a:avLst/>
          </a:prstGeom>
          <a:solidFill>
            <a:srgbClr val="00C2A8"/>
          </a:solidFill>
          <a:ln w="12700">
            <a:solidFill>
              <a:srgbClr val="00C2A8"/>
            </a:solidFill>
            <a:prstDash val="solid"/>
          </a:ln>
        </p:spPr>
      </p:sp>
      <p:sp>
        <p:nvSpPr>
          <p:cNvPr id="4" name="Text 2"/>
          <p:cNvSpPr/>
          <p:nvPr/>
        </p:nvSpPr>
        <p:spPr>
          <a:xfrm>
            <a:off x="457200" y="0"/>
            <a:ext cx="8229600" cy="91440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SYSTEM ARCHITECTURE</a:t>
            </a:r>
            <a:endParaRPr lang="en-US" sz="2600" dirty="0"/>
          </a:p>
        </p:txBody>
      </p:sp>
      <p:sp>
        <p:nvSpPr>
          <p:cNvPr id="5" name="Shape 3"/>
          <p:cNvSpPr/>
          <p:nvPr/>
        </p:nvSpPr>
        <p:spPr>
          <a:xfrm>
            <a:off x="320040" y="1097280"/>
            <a:ext cx="1508760" cy="1417320"/>
          </a:xfrm>
          <a:prstGeom prst="rect">
            <a:avLst/>
          </a:prstGeom>
          <a:solidFill>
            <a:srgbClr val="112240"/>
          </a:solidFill>
          <a:ln w="12700">
            <a:solidFill>
              <a:srgbClr val="00C2A8"/>
            </a:solidFill>
            <a:prstDash val="solid"/>
          </a:ln>
        </p:spPr>
      </p:sp>
      <p:sp>
        <p:nvSpPr>
          <p:cNvPr id="6" name="Shape 4"/>
          <p:cNvSpPr/>
          <p:nvPr/>
        </p:nvSpPr>
        <p:spPr>
          <a:xfrm>
            <a:off x="320040" y="1097280"/>
            <a:ext cx="1508760" cy="45720"/>
          </a:xfrm>
          <a:prstGeom prst="rect">
            <a:avLst/>
          </a:prstGeom>
          <a:solidFill>
            <a:srgbClr val="00C2A8"/>
          </a:solidFill>
          <a:ln w="12700">
            <a:solidFill>
              <a:srgbClr val="00C2A8"/>
            </a:solidFill>
            <a:prstDash val="solid"/>
          </a:ln>
        </p:spPr>
      </p:sp>
      <p:pic>
        <p:nvPicPr>
          <p:cNvPr id="7" name="Image 0" descr="preencoded.png">    </p:cNvPr>
          <p:cNvPicPr>
            <a:picLocks noChangeAspect="1"/>
          </p:cNvPicPr>
          <p:nvPr/>
        </p:nvPicPr>
        <p:blipFill>
          <a:blip r:embed="rId1"/>
          <a:stretch>
            <a:fillRect/>
          </a:stretch>
        </p:blipFill>
        <p:spPr>
          <a:xfrm>
            <a:off x="841248" y="1170432"/>
            <a:ext cx="457200" cy="457200"/>
          </a:xfrm>
          <a:prstGeom prst="rect">
            <a:avLst/>
          </a:prstGeom>
        </p:spPr>
      </p:pic>
      <p:sp>
        <p:nvSpPr>
          <p:cNvPr id="8" name="Text 5"/>
          <p:cNvSpPr/>
          <p:nvPr/>
        </p:nvSpPr>
        <p:spPr>
          <a:xfrm>
            <a:off x="365760" y="1664208"/>
            <a:ext cx="1417320" cy="4572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Data</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Collection</a:t>
            </a:r>
            <a:endParaRPr lang="en-US" sz="1100" dirty="0"/>
          </a:p>
        </p:txBody>
      </p:sp>
      <p:sp>
        <p:nvSpPr>
          <p:cNvPr id="9" name="Text 6"/>
          <p:cNvSpPr/>
          <p:nvPr/>
        </p:nvSpPr>
        <p:spPr>
          <a:xfrm>
            <a:off x="365760" y="2130552"/>
            <a:ext cx="1417320" cy="320040"/>
          </a:xfrm>
          <a:prstGeom prst="rect">
            <a:avLst/>
          </a:prstGeom>
          <a:noFill/>
          <a:ln/>
        </p:spPr>
        <p:txBody>
          <a:bodyPr wrap="square" rtlCol="0" anchor="ctr"/>
          <a:lstStyle/>
          <a:p>
            <a:pPr algn="ctr" indent="0" marL="0">
              <a:buNone/>
            </a:pPr>
            <a:r>
              <a:rPr lang="en-US" sz="900" dirty="0">
                <a:solidFill>
                  <a:srgbClr val="8FAAC3"/>
                </a:solidFill>
                <a:latin typeface="Calibri" pitchFamily="34" charset="0"/>
                <a:ea typeface="Calibri" pitchFamily="34" charset="-122"/>
                <a:cs typeface="Calibri" pitchFamily="34" charset="-120"/>
              </a:rPr>
              <a:t>yfinance</a:t>
            </a:r>
            <a:endParaRPr lang="en-US" sz="900" dirty="0"/>
          </a:p>
          <a:p>
            <a:pPr algn="ctr" indent="0" marL="0">
              <a:buNone/>
            </a:pPr>
            <a:r>
              <a:rPr lang="en-US" sz="900" dirty="0">
                <a:solidFill>
                  <a:srgbClr val="8FAAC3"/>
                </a:solidFill>
                <a:latin typeface="Calibri" pitchFamily="34" charset="0"/>
                <a:ea typeface="Calibri" pitchFamily="34" charset="-122"/>
                <a:cs typeface="Calibri" pitchFamily="34" charset="-120"/>
              </a:rPr>
              <a:t>API</a:t>
            </a:r>
            <a:endParaRPr lang="en-US" sz="900" dirty="0"/>
          </a:p>
        </p:txBody>
      </p:sp>
      <p:sp>
        <p:nvSpPr>
          <p:cNvPr id="10" name="Shape 7"/>
          <p:cNvSpPr/>
          <p:nvPr/>
        </p:nvSpPr>
        <p:spPr>
          <a:xfrm>
            <a:off x="1837944" y="1737360"/>
            <a:ext cx="621792" cy="36576"/>
          </a:xfrm>
          <a:prstGeom prst="rect">
            <a:avLst/>
          </a:prstGeom>
          <a:solidFill>
            <a:srgbClr val="00C2A8"/>
          </a:solidFill>
          <a:ln w="12700">
            <a:solidFill>
              <a:srgbClr val="00C2A8"/>
            </a:solidFill>
            <a:prstDash val="solid"/>
          </a:ln>
        </p:spPr>
      </p:sp>
      <p:pic>
        <p:nvPicPr>
          <p:cNvPr id="11" name="Image 1" descr="preencoded.png">    </p:cNvPr>
          <p:cNvPicPr>
            <a:picLocks noChangeAspect="1"/>
          </p:cNvPicPr>
          <p:nvPr/>
        </p:nvPicPr>
        <p:blipFill>
          <a:blip r:embed="rId2"/>
          <a:stretch>
            <a:fillRect/>
          </a:stretch>
        </p:blipFill>
        <p:spPr>
          <a:xfrm>
            <a:off x="2194560" y="1636776"/>
            <a:ext cx="256032" cy="256032"/>
          </a:xfrm>
          <a:prstGeom prst="rect">
            <a:avLst/>
          </a:prstGeom>
        </p:spPr>
      </p:pic>
      <p:sp>
        <p:nvSpPr>
          <p:cNvPr id="12" name="Shape 8"/>
          <p:cNvSpPr/>
          <p:nvPr/>
        </p:nvSpPr>
        <p:spPr>
          <a:xfrm>
            <a:off x="2148840" y="1097280"/>
            <a:ext cx="1508760" cy="1417320"/>
          </a:xfrm>
          <a:prstGeom prst="rect">
            <a:avLst/>
          </a:prstGeom>
          <a:solidFill>
            <a:srgbClr val="112240"/>
          </a:solidFill>
          <a:ln w="12700">
            <a:solidFill>
              <a:srgbClr val="00C2A8"/>
            </a:solidFill>
            <a:prstDash val="solid"/>
          </a:ln>
        </p:spPr>
      </p:sp>
      <p:sp>
        <p:nvSpPr>
          <p:cNvPr id="13" name="Shape 9"/>
          <p:cNvSpPr/>
          <p:nvPr/>
        </p:nvSpPr>
        <p:spPr>
          <a:xfrm>
            <a:off x="2148840" y="1097280"/>
            <a:ext cx="1508760" cy="45720"/>
          </a:xfrm>
          <a:prstGeom prst="rect">
            <a:avLst/>
          </a:prstGeom>
          <a:solidFill>
            <a:srgbClr val="00C2A8"/>
          </a:solidFill>
          <a:ln w="12700">
            <a:solidFill>
              <a:srgbClr val="00C2A8"/>
            </a:solidFill>
            <a:prstDash val="solid"/>
          </a:ln>
        </p:spPr>
      </p:sp>
      <p:pic>
        <p:nvPicPr>
          <p:cNvPr id="14" name="Image 2" descr="preencoded.png">    </p:cNvPr>
          <p:cNvPicPr>
            <a:picLocks noChangeAspect="1"/>
          </p:cNvPicPr>
          <p:nvPr/>
        </p:nvPicPr>
        <p:blipFill>
          <a:blip r:embed="rId3"/>
          <a:stretch>
            <a:fillRect/>
          </a:stretch>
        </p:blipFill>
        <p:spPr>
          <a:xfrm>
            <a:off x="2670048" y="1170432"/>
            <a:ext cx="457200" cy="457200"/>
          </a:xfrm>
          <a:prstGeom prst="rect">
            <a:avLst/>
          </a:prstGeom>
        </p:spPr>
      </p:pic>
      <p:sp>
        <p:nvSpPr>
          <p:cNvPr id="15" name="Text 10"/>
          <p:cNvSpPr/>
          <p:nvPr/>
        </p:nvSpPr>
        <p:spPr>
          <a:xfrm>
            <a:off x="2194560" y="1664208"/>
            <a:ext cx="1417320" cy="4572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Feature</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Engineering</a:t>
            </a:r>
            <a:endParaRPr lang="en-US" sz="1100" dirty="0"/>
          </a:p>
        </p:txBody>
      </p:sp>
      <p:sp>
        <p:nvSpPr>
          <p:cNvPr id="16" name="Text 11"/>
          <p:cNvSpPr/>
          <p:nvPr/>
        </p:nvSpPr>
        <p:spPr>
          <a:xfrm>
            <a:off x="2194560" y="2130552"/>
            <a:ext cx="1417320" cy="320040"/>
          </a:xfrm>
          <a:prstGeom prst="rect">
            <a:avLst/>
          </a:prstGeom>
          <a:noFill/>
          <a:ln/>
        </p:spPr>
        <p:txBody>
          <a:bodyPr wrap="square" rtlCol="0" anchor="ctr"/>
          <a:lstStyle/>
          <a:p>
            <a:pPr algn="ctr" indent="0" marL="0">
              <a:buNone/>
            </a:pPr>
            <a:r>
              <a:rPr lang="en-US" sz="900" dirty="0">
                <a:solidFill>
                  <a:srgbClr val="8FAAC3"/>
                </a:solidFill>
                <a:latin typeface="Calibri" pitchFamily="34" charset="0"/>
                <a:ea typeface="Calibri" pitchFamily="34" charset="-122"/>
                <a:cs typeface="Calibri" pitchFamily="34" charset="-120"/>
              </a:rPr>
              <a:t>RSI, MACD</a:t>
            </a:r>
            <a:endParaRPr lang="en-US" sz="900" dirty="0"/>
          </a:p>
          <a:p>
            <a:pPr algn="ctr" indent="0" marL="0">
              <a:buNone/>
            </a:pPr>
            <a:r>
              <a:rPr lang="en-US" sz="900" dirty="0">
                <a:solidFill>
                  <a:srgbClr val="8FAAC3"/>
                </a:solidFill>
                <a:latin typeface="Calibri" pitchFamily="34" charset="0"/>
                <a:ea typeface="Calibri" pitchFamily="34" charset="-122"/>
                <a:cs typeface="Calibri" pitchFamily="34" charset="-120"/>
              </a:rPr>
              <a:t>Boll. Bands</a:t>
            </a:r>
            <a:endParaRPr lang="en-US" sz="900" dirty="0"/>
          </a:p>
        </p:txBody>
      </p:sp>
      <p:sp>
        <p:nvSpPr>
          <p:cNvPr id="17" name="Shape 12"/>
          <p:cNvSpPr/>
          <p:nvPr/>
        </p:nvSpPr>
        <p:spPr>
          <a:xfrm>
            <a:off x="3666744" y="1737360"/>
            <a:ext cx="621792" cy="36576"/>
          </a:xfrm>
          <a:prstGeom prst="rect">
            <a:avLst/>
          </a:prstGeom>
          <a:solidFill>
            <a:srgbClr val="00C2A8"/>
          </a:solidFill>
          <a:ln w="12700">
            <a:solidFill>
              <a:srgbClr val="00C2A8"/>
            </a:solidFill>
            <a:prstDash val="solid"/>
          </a:ln>
        </p:spPr>
      </p:sp>
      <p:pic>
        <p:nvPicPr>
          <p:cNvPr id="18" name="Image 3" descr="preencoded.png">    </p:cNvPr>
          <p:cNvPicPr>
            <a:picLocks noChangeAspect="1"/>
          </p:cNvPicPr>
          <p:nvPr/>
        </p:nvPicPr>
        <p:blipFill>
          <a:blip r:embed="rId4"/>
          <a:stretch>
            <a:fillRect/>
          </a:stretch>
        </p:blipFill>
        <p:spPr>
          <a:xfrm>
            <a:off x="4023360" y="1636776"/>
            <a:ext cx="256032" cy="256032"/>
          </a:xfrm>
          <a:prstGeom prst="rect">
            <a:avLst/>
          </a:prstGeom>
        </p:spPr>
      </p:pic>
      <p:sp>
        <p:nvSpPr>
          <p:cNvPr id="19" name="Shape 13"/>
          <p:cNvSpPr/>
          <p:nvPr/>
        </p:nvSpPr>
        <p:spPr>
          <a:xfrm>
            <a:off x="3977640" y="1097280"/>
            <a:ext cx="1508760" cy="1417320"/>
          </a:xfrm>
          <a:prstGeom prst="rect">
            <a:avLst/>
          </a:prstGeom>
          <a:solidFill>
            <a:srgbClr val="112240"/>
          </a:solidFill>
          <a:ln w="12700">
            <a:solidFill>
              <a:srgbClr val="00C2A8"/>
            </a:solidFill>
            <a:prstDash val="solid"/>
          </a:ln>
        </p:spPr>
      </p:sp>
      <p:sp>
        <p:nvSpPr>
          <p:cNvPr id="20" name="Shape 14"/>
          <p:cNvSpPr/>
          <p:nvPr/>
        </p:nvSpPr>
        <p:spPr>
          <a:xfrm>
            <a:off x="3977640" y="1097280"/>
            <a:ext cx="1508760" cy="45720"/>
          </a:xfrm>
          <a:prstGeom prst="rect">
            <a:avLst/>
          </a:prstGeom>
          <a:solidFill>
            <a:srgbClr val="00C2A8"/>
          </a:solidFill>
          <a:ln w="12700">
            <a:solidFill>
              <a:srgbClr val="00C2A8"/>
            </a:solidFill>
            <a:prstDash val="solid"/>
          </a:ln>
        </p:spPr>
      </p:sp>
      <p:pic>
        <p:nvPicPr>
          <p:cNvPr id="21" name="Image 4" descr="preencoded.png">    </p:cNvPr>
          <p:cNvPicPr>
            <a:picLocks noChangeAspect="1"/>
          </p:cNvPicPr>
          <p:nvPr/>
        </p:nvPicPr>
        <p:blipFill>
          <a:blip r:embed="rId5"/>
          <a:stretch>
            <a:fillRect/>
          </a:stretch>
        </p:blipFill>
        <p:spPr>
          <a:xfrm>
            <a:off x="4498848" y="1170432"/>
            <a:ext cx="457200" cy="457200"/>
          </a:xfrm>
          <a:prstGeom prst="rect">
            <a:avLst/>
          </a:prstGeom>
        </p:spPr>
      </p:pic>
      <p:sp>
        <p:nvSpPr>
          <p:cNvPr id="22" name="Text 15"/>
          <p:cNvSpPr/>
          <p:nvPr/>
        </p:nvSpPr>
        <p:spPr>
          <a:xfrm>
            <a:off x="4023360" y="1664208"/>
            <a:ext cx="1417320" cy="4572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ML Model</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Training</a:t>
            </a:r>
            <a:endParaRPr lang="en-US" sz="1100" dirty="0"/>
          </a:p>
        </p:txBody>
      </p:sp>
      <p:sp>
        <p:nvSpPr>
          <p:cNvPr id="23" name="Text 16"/>
          <p:cNvSpPr/>
          <p:nvPr/>
        </p:nvSpPr>
        <p:spPr>
          <a:xfrm>
            <a:off x="4023360" y="2130552"/>
            <a:ext cx="1417320" cy="320040"/>
          </a:xfrm>
          <a:prstGeom prst="rect">
            <a:avLst/>
          </a:prstGeom>
          <a:noFill/>
          <a:ln/>
        </p:spPr>
        <p:txBody>
          <a:bodyPr wrap="square" rtlCol="0" anchor="ctr"/>
          <a:lstStyle/>
          <a:p>
            <a:pPr algn="ctr" indent="0" marL="0">
              <a:buNone/>
            </a:pPr>
            <a:r>
              <a:rPr lang="en-US" sz="900" dirty="0">
                <a:solidFill>
                  <a:srgbClr val="8FAAC3"/>
                </a:solidFill>
                <a:latin typeface="Calibri" pitchFamily="34" charset="0"/>
                <a:ea typeface="Calibri" pitchFamily="34" charset="-122"/>
                <a:cs typeface="Calibri" pitchFamily="34" charset="-120"/>
              </a:rPr>
              <a:t>LSTM</a:t>
            </a:r>
            <a:endParaRPr lang="en-US" sz="900" dirty="0"/>
          </a:p>
          <a:p>
            <a:pPr algn="ctr" indent="0" marL="0">
              <a:buNone/>
            </a:pPr>
            <a:r>
              <a:rPr lang="en-US" sz="900" dirty="0">
                <a:solidFill>
                  <a:srgbClr val="8FAAC3"/>
                </a:solidFill>
                <a:latin typeface="Calibri" pitchFamily="34" charset="0"/>
                <a:ea typeface="Calibri" pitchFamily="34" charset="-122"/>
                <a:cs typeface="Calibri" pitchFamily="34" charset="-120"/>
              </a:rPr>
              <a:t>Random Forest</a:t>
            </a:r>
            <a:endParaRPr lang="en-US" sz="900" dirty="0"/>
          </a:p>
        </p:txBody>
      </p:sp>
      <p:sp>
        <p:nvSpPr>
          <p:cNvPr id="24" name="Shape 17"/>
          <p:cNvSpPr/>
          <p:nvPr/>
        </p:nvSpPr>
        <p:spPr>
          <a:xfrm>
            <a:off x="5495544" y="1737360"/>
            <a:ext cx="621792" cy="36576"/>
          </a:xfrm>
          <a:prstGeom prst="rect">
            <a:avLst/>
          </a:prstGeom>
          <a:solidFill>
            <a:srgbClr val="00C2A8"/>
          </a:solidFill>
          <a:ln w="12700">
            <a:solidFill>
              <a:srgbClr val="00C2A8"/>
            </a:solidFill>
            <a:prstDash val="solid"/>
          </a:ln>
        </p:spPr>
      </p:sp>
      <p:pic>
        <p:nvPicPr>
          <p:cNvPr id="25" name="Image 5" descr="preencoded.png">    </p:cNvPr>
          <p:cNvPicPr>
            <a:picLocks noChangeAspect="1"/>
          </p:cNvPicPr>
          <p:nvPr/>
        </p:nvPicPr>
        <p:blipFill>
          <a:blip r:embed="rId6"/>
          <a:stretch>
            <a:fillRect/>
          </a:stretch>
        </p:blipFill>
        <p:spPr>
          <a:xfrm>
            <a:off x="5852160" y="1636776"/>
            <a:ext cx="256032" cy="256032"/>
          </a:xfrm>
          <a:prstGeom prst="rect">
            <a:avLst/>
          </a:prstGeom>
        </p:spPr>
      </p:pic>
      <p:sp>
        <p:nvSpPr>
          <p:cNvPr id="26" name="Shape 18"/>
          <p:cNvSpPr/>
          <p:nvPr/>
        </p:nvSpPr>
        <p:spPr>
          <a:xfrm>
            <a:off x="5806440" y="1097280"/>
            <a:ext cx="1508760" cy="1417320"/>
          </a:xfrm>
          <a:prstGeom prst="rect">
            <a:avLst/>
          </a:prstGeom>
          <a:solidFill>
            <a:srgbClr val="112240"/>
          </a:solidFill>
          <a:ln w="12700">
            <a:solidFill>
              <a:srgbClr val="00C2A8"/>
            </a:solidFill>
            <a:prstDash val="solid"/>
          </a:ln>
        </p:spPr>
      </p:sp>
      <p:sp>
        <p:nvSpPr>
          <p:cNvPr id="27" name="Shape 19"/>
          <p:cNvSpPr/>
          <p:nvPr/>
        </p:nvSpPr>
        <p:spPr>
          <a:xfrm>
            <a:off x="5806440" y="1097280"/>
            <a:ext cx="1508760" cy="45720"/>
          </a:xfrm>
          <a:prstGeom prst="rect">
            <a:avLst/>
          </a:prstGeom>
          <a:solidFill>
            <a:srgbClr val="00C2A8"/>
          </a:solidFill>
          <a:ln w="12700">
            <a:solidFill>
              <a:srgbClr val="00C2A8"/>
            </a:solidFill>
            <a:prstDash val="solid"/>
          </a:ln>
        </p:spPr>
      </p:sp>
      <p:pic>
        <p:nvPicPr>
          <p:cNvPr id="28" name="Image 6" descr="preencoded.png">    </p:cNvPr>
          <p:cNvPicPr>
            <a:picLocks noChangeAspect="1"/>
          </p:cNvPicPr>
          <p:nvPr/>
        </p:nvPicPr>
        <p:blipFill>
          <a:blip r:embed="rId7"/>
          <a:stretch>
            <a:fillRect/>
          </a:stretch>
        </p:blipFill>
        <p:spPr>
          <a:xfrm>
            <a:off x="6327648" y="1170432"/>
            <a:ext cx="457200" cy="457200"/>
          </a:xfrm>
          <a:prstGeom prst="rect">
            <a:avLst/>
          </a:prstGeom>
        </p:spPr>
      </p:pic>
      <p:sp>
        <p:nvSpPr>
          <p:cNvPr id="29" name="Text 20"/>
          <p:cNvSpPr/>
          <p:nvPr/>
        </p:nvSpPr>
        <p:spPr>
          <a:xfrm>
            <a:off x="5852160" y="1664208"/>
            <a:ext cx="1417320" cy="4572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Backtesting</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&amp; Eval</a:t>
            </a:r>
            <a:endParaRPr lang="en-US" sz="1100" dirty="0"/>
          </a:p>
        </p:txBody>
      </p:sp>
      <p:sp>
        <p:nvSpPr>
          <p:cNvPr id="30" name="Text 21"/>
          <p:cNvSpPr/>
          <p:nvPr/>
        </p:nvSpPr>
        <p:spPr>
          <a:xfrm>
            <a:off x="5852160" y="2130552"/>
            <a:ext cx="1417320" cy="320040"/>
          </a:xfrm>
          <a:prstGeom prst="rect">
            <a:avLst/>
          </a:prstGeom>
          <a:noFill/>
          <a:ln/>
        </p:spPr>
        <p:txBody>
          <a:bodyPr wrap="square" rtlCol="0" anchor="ctr"/>
          <a:lstStyle/>
          <a:p>
            <a:pPr algn="ctr" indent="0" marL="0">
              <a:buNone/>
            </a:pPr>
            <a:r>
              <a:rPr lang="en-US" sz="900" dirty="0">
                <a:solidFill>
                  <a:srgbClr val="8FAAC3"/>
                </a:solidFill>
                <a:latin typeface="Calibri" pitchFamily="34" charset="0"/>
                <a:ea typeface="Calibri" pitchFamily="34" charset="-122"/>
                <a:cs typeface="Calibri" pitchFamily="34" charset="-120"/>
              </a:rPr>
              <a:t>Sharpe</a:t>
            </a:r>
            <a:endParaRPr lang="en-US" sz="900" dirty="0"/>
          </a:p>
          <a:p>
            <a:pPr algn="ctr" indent="0" marL="0">
              <a:buNone/>
            </a:pPr>
            <a:r>
              <a:rPr lang="en-US" sz="900" dirty="0">
                <a:solidFill>
                  <a:srgbClr val="8FAAC3"/>
                </a:solidFill>
                <a:latin typeface="Calibri" pitchFamily="34" charset="0"/>
                <a:ea typeface="Calibri" pitchFamily="34" charset="-122"/>
                <a:cs typeface="Calibri" pitchFamily="34" charset="-120"/>
              </a:rPr>
              <a:t>Drawdown</a:t>
            </a:r>
            <a:endParaRPr lang="en-US" sz="900" dirty="0"/>
          </a:p>
        </p:txBody>
      </p:sp>
      <p:sp>
        <p:nvSpPr>
          <p:cNvPr id="31" name="Shape 22"/>
          <p:cNvSpPr/>
          <p:nvPr/>
        </p:nvSpPr>
        <p:spPr>
          <a:xfrm>
            <a:off x="7324344" y="1737360"/>
            <a:ext cx="621792" cy="36576"/>
          </a:xfrm>
          <a:prstGeom prst="rect">
            <a:avLst/>
          </a:prstGeom>
          <a:solidFill>
            <a:srgbClr val="00C2A8"/>
          </a:solidFill>
          <a:ln w="12700">
            <a:solidFill>
              <a:srgbClr val="00C2A8"/>
            </a:solidFill>
            <a:prstDash val="solid"/>
          </a:ln>
        </p:spPr>
      </p:sp>
      <p:pic>
        <p:nvPicPr>
          <p:cNvPr id="32" name="Image 7" descr="preencoded.png">    </p:cNvPr>
          <p:cNvPicPr>
            <a:picLocks noChangeAspect="1"/>
          </p:cNvPicPr>
          <p:nvPr/>
        </p:nvPicPr>
        <p:blipFill>
          <a:blip r:embed="rId8"/>
          <a:stretch>
            <a:fillRect/>
          </a:stretch>
        </p:blipFill>
        <p:spPr>
          <a:xfrm>
            <a:off x="7680960" y="1636776"/>
            <a:ext cx="256032" cy="256032"/>
          </a:xfrm>
          <a:prstGeom prst="rect">
            <a:avLst/>
          </a:prstGeom>
        </p:spPr>
      </p:pic>
      <p:sp>
        <p:nvSpPr>
          <p:cNvPr id="33" name="Shape 23"/>
          <p:cNvSpPr/>
          <p:nvPr/>
        </p:nvSpPr>
        <p:spPr>
          <a:xfrm>
            <a:off x="7635240" y="1097280"/>
            <a:ext cx="1508760" cy="1417320"/>
          </a:xfrm>
          <a:prstGeom prst="rect">
            <a:avLst/>
          </a:prstGeom>
          <a:solidFill>
            <a:srgbClr val="112240"/>
          </a:solidFill>
          <a:ln w="12700">
            <a:solidFill>
              <a:srgbClr val="00C2A8"/>
            </a:solidFill>
            <a:prstDash val="solid"/>
          </a:ln>
        </p:spPr>
      </p:sp>
      <p:sp>
        <p:nvSpPr>
          <p:cNvPr id="34" name="Shape 24"/>
          <p:cNvSpPr/>
          <p:nvPr/>
        </p:nvSpPr>
        <p:spPr>
          <a:xfrm>
            <a:off x="7635240" y="1097280"/>
            <a:ext cx="1508760" cy="45720"/>
          </a:xfrm>
          <a:prstGeom prst="rect">
            <a:avLst/>
          </a:prstGeom>
          <a:solidFill>
            <a:srgbClr val="00C2A8"/>
          </a:solidFill>
          <a:ln w="12700">
            <a:solidFill>
              <a:srgbClr val="00C2A8"/>
            </a:solidFill>
            <a:prstDash val="solid"/>
          </a:ln>
        </p:spPr>
      </p:sp>
      <p:pic>
        <p:nvPicPr>
          <p:cNvPr id="35" name="Image 8" descr="preencoded.png">    </p:cNvPr>
          <p:cNvPicPr>
            <a:picLocks noChangeAspect="1"/>
          </p:cNvPicPr>
          <p:nvPr/>
        </p:nvPicPr>
        <p:blipFill>
          <a:blip r:embed="rId9"/>
          <a:stretch>
            <a:fillRect/>
          </a:stretch>
        </p:blipFill>
        <p:spPr>
          <a:xfrm>
            <a:off x="8156448" y="1170432"/>
            <a:ext cx="457200" cy="457200"/>
          </a:xfrm>
          <a:prstGeom prst="rect">
            <a:avLst/>
          </a:prstGeom>
        </p:spPr>
      </p:pic>
      <p:sp>
        <p:nvSpPr>
          <p:cNvPr id="36" name="Text 25"/>
          <p:cNvSpPr/>
          <p:nvPr/>
        </p:nvSpPr>
        <p:spPr>
          <a:xfrm>
            <a:off x="7680960" y="1664208"/>
            <a:ext cx="1417320" cy="4572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Web</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Interface</a:t>
            </a:r>
            <a:endParaRPr lang="en-US" sz="1100" dirty="0"/>
          </a:p>
        </p:txBody>
      </p:sp>
      <p:sp>
        <p:nvSpPr>
          <p:cNvPr id="37" name="Text 26"/>
          <p:cNvSpPr/>
          <p:nvPr/>
        </p:nvSpPr>
        <p:spPr>
          <a:xfrm>
            <a:off x="7680960" y="2130552"/>
            <a:ext cx="1417320" cy="320040"/>
          </a:xfrm>
          <a:prstGeom prst="rect">
            <a:avLst/>
          </a:prstGeom>
          <a:noFill/>
          <a:ln/>
        </p:spPr>
        <p:txBody>
          <a:bodyPr wrap="square" rtlCol="0" anchor="ctr"/>
          <a:lstStyle/>
          <a:p>
            <a:pPr algn="ctr" indent="0" marL="0">
              <a:buNone/>
            </a:pPr>
            <a:r>
              <a:rPr lang="en-US" sz="900" dirty="0">
                <a:solidFill>
                  <a:srgbClr val="8FAAC3"/>
                </a:solidFill>
                <a:latin typeface="Calibri" pitchFamily="34" charset="0"/>
                <a:ea typeface="Calibri" pitchFamily="34" charset="-122"/>
                <a:cs typeface="Calibri" pitchFamily="34" charset="-120"/>
              </a:rPr>
              <a:t>Flask</a:t>
            </a:r>
            <a:endParaRPr lang="en-US" sz="900" dirty="0"/>
          </a:p>
          <a:p>
            <a:pPr algn="ctr" indent="0" marL="0">
              <a:buNone/>
            </a:pPr>
            <a:r>
              <a:rPr lang="en-US" sz="900" dirty="0">
                <a:solidFill>
                  <a:srgbClr val="8FAAC3"/>
                </a:solidFill>
                <a:latin typeface="Calibri" pitchFamily="34" charset="0"/>
                <a:ea typeface="Calibri" pitchFamily="34" charset="-122"/>
                <a:cs typeface="Calibri" pitchFamily="34" charset="-120"/>
              </a:rPr>
              <a:t>API + Frontend</a:t>
            </a:r>
            <a:endParaRPr lang="en-US" sz="900" dirty="0"/>
          </a:p>
        </p:txBody>
      </p:sp>
      <p:sp>
        <p:nvSpPr>
          <p:cNvPr id="38" name="Shape 27"/>
          <p:cNvSpPr/>
          <p:nvPr/>
        </p:nvSpPr>
        <p:spPr>
          <a:xfrm>
            <a:off x="320040" y="2743200"/>
            <a:ext cx="8503920" cy="27432"/>
          </a:xfrm>
          <a:prstGeom prst="rect">
            <a:avLst/>
          </a:prstGeom>
          <a:solidFill>
            <a:srgbClr val="1A3A5C"/>
          </a:solidFill>
          <a:ln w="12700">
            <a:solidFill>
              <a:srgbClr val="1A3A5C"/>
            </a:solidFill>
            <a:prstDash val="solid"/>
          </a:ln>
        </p:spPr>
      </p:sp>
      <p:sp>
        <p:nvSpPr>
          <p:cNvPr id="39" name="Text 28"/>
          <p:cNvSpPr/>
          <p:nvPr/>
        </p:nvSpPr>
        <p:spPr>
          <a:xfrm>
            <a:off x="320040" y="2816352"/>
            <a:ext cx="8503920" cy="274320"/>
          </a:xfrm>
          <a:prstGeom prst="rect">
            <a:avLst/>
          </a:prstGeom>
          <a:noFill/>
          <a:ln/>
        </p:spPr>
        <p:txBody>
          <a:bodyPr wrap="square" rtlCol="0" anchor="ctr"/>
          <a:lstStyle/>
          <a:p>
            <a:pPr indent="0" marL="0">
              <a:buNone/>
            </a:pPr>
            <a:r>
              <a:rPr lang="en-US" sz="1200" b="1" dirty="0">
                <a:solidFill>
                  <a:srgbClr val="00C2A8"/>
                </a:solidFill>
                <a:latin typeface="Calibri" pitchFamily="34" charset="0"/>
                <a:ea typeface="Calibri" pitchFamily="34" charset="-122"/>
                <a:cs typeface="Calibri" pitchFamily="34" charset="-120"/>
              </a:rPr>
              <a:t>DATASETS</a:t>
            </a:r>
            <a:endParaRPr lang="en-US" sz="1200" dirty="0"/>
          </a:p>
        </p:txBody>
      </p:sp>
      <p:sp>
        <p:nvSpPr>
          <p:cNvPr id="40" name="Shape 29"/>
          <p:cNvSpPr/>
          <p:nvPr/>
        </p:nvSpPr>
        <p:spPr>
          <a:xfrm>
            <a:off x="320040" y="3154680"/>
            <a:ext cx="2743200" cy="1691640"/>
          </a:xfrm>
          <a:prstGeom prst="rect">
            <a:avLst/>
          </a:prstGeom>
          <a:solidFill>
            <a:srgbClr val="112240"/>
          </a:solidFill>
          <a:ln w="12700">
            <a:solidFill>
              <a:srgbClr val="1A3A5C"/>
            </a:solidFill>
            <a:prstDash val="solid"/>
          </a:ln>
        </p:spPr>
      </p:sp>
      <p:sp>
        <p:nvSpPr>
          <p:cNvPr id="41" name="Shape 30"/>
          <p:cNvSpPr/>
          <p:nvPr/>
        </p:nvSpPr>
        <p:spPr>
          <a:xfrm>
            <a:off x="320040" y="3154680"/>
            <a:ext cx="64008" cy="1691640"/>
          </a:xfrm>
          <a:prstGeom prst="rect">
            <a:avLst/>
          </a:prstGeom>
          <a:solidFill>
            <a:srgbClr val="00C2A8"/>
          </a:solidFill>
          <a:ln w="12700">
            <a:solidFill>
              <a:srgbClr val="00C2A8"/>
            </a:solidFill>
            <a:prstDash val="solid"/>
          </a:ln>
        </p:spPr>
      </p:sp>
      <p:pic>
        <p:nvPicPr>
          <p:cNvPr id="42" name="Image 9" descr="preencoded.png">    </p:cNvPr>
          <p:cNvPicPr>
            <a:picLocks noChangeAspect="1"/>
          </p:cNvPicPr>
          <p:nvPr/>
        </p:nvPicPr>
        <p:blipFill>
          <a:blip r:embed="rId10"/>
          <a:stretch>
            <a:fillRect/>
          </a:stretch>
        </p:blipFill>
        <p:spPr>
          <a:xfrm>
            <a:off x="484632" y="3246120"/>
            <a:ext cx="411480" cy="411480"/>
          </a:xfrm>
          <a:prstGeom prst="rect">
            <a:avLst/>
          </a:prstGeom>
        </p:spPr>
      </p:pic>
      <p:sp>
        <p:nvSpPr>
          <p:cNvPr id="43" name="Text 31"/>
          <p:cNvSpPr/>
          <p:nvPr/>
        </p:nvSpPr>
        <p:spPr>
          <a:xfrm>
            <a:off x="1005840" y="3218688"/>
            <a:ext cx="1965960" cy="41148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Yahoo Finance (yfinance)</a:t>
            </a:r>
            <a:endParaRPr lang="en-US" sz="1100" dirty="0"/>
          </a:p>
        </p:txBody>
      </p:sp>
      <p:sp>
        <p:nvSpPr>
          <p:cNvPr id="44" name="Text 32"/>
          <p:cNvSpPr/>
          <p:nvPr/>
        </p:nvSpPr>
        <p:spPr>
          <a:xfrm>
            <a:off x="484632" y="3703320"/>
            <a:ext cx="2487168" cy="896112"/>
          </a:xfrm>
          <a:prstGeom prst="rect">
            <a:avLst/>
          </a:prstGeom>
          <a:noFill/>
          <a:ln/>
        </p:spPr>
        <p:txBody>
          <a:bodyPr wrap="square" rtlCol="0" anchor="ctr"/>
          <a:lstStyle/>
          <a:p>
            <a:pPr indent="0" marL="0">
              <a:buNone/>
            </a:pPr>
            <a:r>
              <a:rPr lang="en-US" sz="1000" dirty="0">
                <a:solidFill>
                  <a:srgbClr val="8FAAC3"/>
                </a:solidFill>
                <a:latin typeface="Calibri" pitchFamily="34" charset="0"/>
                <a:ea typeface="Calibri" pitchFamily="34" charset="-122"/>
                <a:cs typeface="Calibri" pitchFamily="34" charset="-120"/>
              </a:rPr>
              <a:t>Primary — Free OHLCV price data</a:t>
            </a:r>
            <a:endParaRPr lang="en-US" sz="1000" dirty="0"/>
          </a:p>
          <a:p>
            <a:pPr indent="0" marL="0">
              <a:buNone/>
            </a:pPr>
            <a:r>
              <a:rPr lang="en-US" sz="1000" dirty="0">
                <a:solidFill>
                  <a:srgbClr val="8FAAC3"/>
                </a:solidFill>
                <a:latin typeface="Calibri" pitchFamily="34" charset="0"/>
                <a:ea typeface="Calibri" pitchFamily="34" charset="-122"/>
                <a:cs typeface="Calibri" pitchFamily="34" charset="-120"/>
              </a:rPr>
              <a:t>for thousands of stocks (2018–2024)</a:t>
            </a:r>
            <a:endParaRPr lang="en-US" sz="1000" dirty="0"/>
          </a:p>
        </p:txBody>
      </p:sp>
      <p:sp>
        <p:nvSpPr>
          <p:cNvPr id="45" name="Shape 33"/>
          <p:cNvSpPr/>
          <p:nvPr/>
        </p:nvSpPr>
        <p:spPr>
          <a:xfrm>
            <a:off x="3200400" y="3154680"/>
            <a:ext cx="2743200" cy="1691640"/>
          </a:xfrm>
          <a:prstGeom prst="rect">
            <a:avLst/>
          </a:prstGeom>
          <a:solidFill>
            <a:srgbClr val="112240"/>
          </a:solidFill>
          <a:ln w="12700">
            <a:solidFill>
              <a:srgbClr val="1A3A5C"/>
            </a:solidFill>
            <a:prstDash val="solid"/>
          </a:ln>
        </p:spPr>
      </p:sp>
      <p:sp>
        <p:nvSpPr>
          <p:cNvPr id="46" name="Shape 34"/>
          <p:cNvSpPr/>
          <p:nvPr/>
        </p:nvSpPr>
        <p:spPr>
          <a:xfrm>
            <a:off x="3200400" y="3154680"/>
            <a:ext cx="64008" cy="1691640"/>
          </a:xfrm>
          <a:prstGeom prst="rect">
            <a:avLst/>
          </a:prstGeom>
          <a:solidFill>
            <a:srgbClr val="FFD166"/>
          </a:solidFill>
          <a:ln w="12700">
            <a:solidFill>
              <a:srgbClr val="FFD166"/>
            </a:solidFill>
            <a:prstDash val="solid"/>
          </a:ln>
        </p:spPr>
      </p:sp>
      <p:pic>
        <p:nvPicPr>
          <p:cNvPr id="47" name="Image 10" descr="preencoded.png">    </p:cNvPr>
          <p:cNvPicPr>
            <a:picLocks noChangeAspect="1"/>
          </p:cNvPicPr>
          <p:nvPr/>
        </p:nvPicPr>
        <p:blipFill>
          <a:blip r:embed="rId11"/>
          <a:stretch>
            <a:fillRect/>
          </a:stretch>
        </p:blipFill>
        <p:spPr>
          <a:xfrm>
            <a:off x="3364992" y="3246120"/>
            <a:ext cx="411480" cy="411480"/>
          </a:xfrm>
          <a:prstGeom prst="rect">
            <a:avLst/>
          </a:prstGeom>
        </p:spPr>
      </p:pic>
      <p:sp>
        <p:nvSpPr>
          <p:cNvPr id="48" name="Text 35"/>
          <p:cNvSpPr/>
          <p:nvPr/>
        </p:nvSpPr>
        <p:spPr>
          <a:xfrm>
            <a:off x="3886200" y="3218688"/>
            <a:ext cx="1965960" cy="41148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Kaggle S&amp;P 500 Dataset</a:t>
            </a:r>
            <a:endParaRPr lang="en-US" sz="1100" dirty="0"/>
          </a:p>
        </p:txBody>
      </p:sp>
      <p:sp>
        <p:nvSpPr>
          <p:cNvPr id="49" name="Text 36"/>
          <p:cNvSpPr/>
          <p:nvPr/>
        </p:nvSpPr>
        <p:spPr>
          <a:xfrm>
            <a:off x="3364992" y="3703320"/>
            <a:ext cx="2487168" cy="896112"/>
          </a:xfrm>
          <a:prstGeom prst="rect">
            <a:avLst/>
          </a:prstGeom>
          <a:noFill/>
          <a:ln/>
        </p:spPr>
        <p:txBody>
          <a:bodyPr wrap="square" rtlCol="0" anchor="ctr"/>
          <a:lstStyle/>
          <a:p>
            <a:pPr indent="0" marL="0">
              <a:buNone/>
            </a:pPr>
            <a:r>
              <a:rPr lang="en-US" sz="1000" dirty="0">
                <a:solidFill>
                  <a:srgbClr val="8FAAC3"/>
                </a:solidFill>
                <a:latin typeface="Calibri" pitchFamily="34" charset="0"/>
                <a:ea typeface="Calibri" pitchFamily="34" charset="-122"/>
                <a:cs typeface="Calibri" pitchFamily="34" charset="-120"/>
              </a:rPr>
              <a:t>Secondary — Pre-cleaned historical</a:t>
            </a:r>
            <a:endParaRPr lang="en-US" sz="1000" dirty="0"/>
          </a:p>
          <a:p>
            <a:pPr indent="0" marL="0">
              <a:buNone/>
            </a:pPr>
            <a:r>
              <a:rPr lang="en-US" sz="1000" dirty="0">
                <a:solidFill>
                  <a:srgbClr val="8FAAC3"/>
                </a:solidFill>
                <a:latin typeface="Calibri" pitchFamily="34" charset="0"/>
                <a:ea typeface="Calibri" pitchFamily="34" charset="-122"/>
                <a:cs typeface="Calibri" pitchFamily="34" charset="-120"/>
              </a:rPr>
              <a:t>stock data for offline testing</a:t>
            </a:r>
            <a:endParaRPr lang="en-US" sz="1000" dirty="0"/>
          </a:p>
        </p:txBody>
      </p:sp>
      <p:sp>
        <p:nvSpPr>
          <p:cNvPr id="50" name="Shape 37"/>
          <p:cNvSpPr/>
          <p:nvPr/>
        </p:nvSpPr>
        <p:spPr>
          <a:xfrm>
            <a:off x="6080760" y="3154680"/>
            <a:ext cx="2743200" cy="1691640"/>
          </a:xfrm>
          <a:prstGeom prst="rect">
            <a:avLst/>
          </a:prstGeom>
          <a:solidFill>
            <a:srgbClr val="112240"/>
          </a:solidFill>
          <a:ln w="12700">
            <a:solidFill>
              <a:srgbClr val="1A3A5C"/>
            </a:solidFill>
            <a:prstDash val="solid"/>
          </a:ln>
        </p:spPr>
      </p:sp>
      <p:sp>
        <p:nvSpPr>
          <p:cNvPr id="51" name="Shape 38"/>
          <p:cNvSpPr/>
          <p:nvPr/>
        </p:nvSpPr>
        <p:spPr>
          <a:xfrm>
            <a:off x="6080760" y="3154680"/>
            <a:ext cx="64008" cy="1691640"/>
          </a:xfrm>
          <a:prstGeom prst="rect">
            <a:avLst/>
          </a:prstGeom>
          <a:solidFill>
            <a:srgbClr val="8FAAC3"/>
          </a:solidFill>
          <a:ln w="12700">
            <a:solidFill>
              <a:srgbClr val="8FAAC3"/>
            </a:solidFill>
            <a:prstDash val="solid"/>
          </a:ln>
        </p:spPr>
      </p:sp>
      <p:pic>
        <p:nvPicPr>
          <p:cNvPr id="52" name="Image 11" descr="preencoded.png">    </p:cNvPr>
          <p:cNvPicPr>
            <a:picLocks noChangeAspect="1"/>
          </p:cNvPicPr>
          <p:nvPr/>
        </p:nvPicPr>
        <p:blipFill>
          <a:blip r:embed="rId12"/>
          <a:stretch>
            <a:fillRect/>
          </a:stretch>
        </p:blipFill>
        <p:spPr>
          <a:xfrm>
            <a:off x="6245352" y="3246120"/>
            <a:ext cx="411480" cy="411480"/>
          </a:xfrm>
          <a:prstGeom prst="rect">
            <a:avLst/>
          </a:prstGeom>
        </p:spPr>
      </p:pic>
      <p:sp>
        <p:nvSpPr>
          <p:cNvPr id="53" name="Text 39"/>
          <p:cNvSpPr/>
          <p:nvPr/>
        </p:nvSpPr>
        <p:spPr>
          <a:xfrm>
            <a:off x="6766560" y="3218688"/>
            <a:ext cx="1965960" cy="41148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NewsAPI</a:t>
            </a:r>
            <a:endParaRPr lang="en-US" sz="1100" dirty="0"/>
          </a:p>
        </p:txBody>
      </p:sp>
      <p:sp>
        <p:nvSpPr>
          <p:cNvPr id="54" name="Text 40"/>
          <p:cNvSpPr/>
          <p:nvPr/>
        </p:nvSpPr>
        <p:spPr>
          <a:xfrm>
            <a:off x="6245352" y="3703320"/>
            <a:ext cx="2487168" cy="896112"/>
          </a:xfrm>
          <a:prstGeom prst="rect">
            <a:avLst/>
          </a:prstGeom>
          <a:noFill/>
          <a:ln/>
        </p:spPr>
        <p:txBody>
          <a:bodyPr wrap="square" rtlCol="0" anchor="ctr"/>
          <a:lstStyle/>
          <a:p>
            <a:pPr indent="0" marL="0">
              <a:buNone/>
            </a:pPr>
            <a:r>
              <a:rPr lang="en-US" sz="1000" dirty="0">
                <a:solidFill>
                  <a:srgbClr val="8FAAC3"/>
                </a:solidFill>
                <a:latin typeface="Calibri" pitchFamily="34" charset="0"/>
                <a:ea typeface="Calibri" pitchFamily="34" charset="-122"/>
                <a:cs typeface="Calibri" pitchFamily="34" charset="-120"/>
              </a:rPr>
              <a:t>Optional — News headlines for</a:t>
            </a:r>
            <a:endParaRPr lang="en-US" sz="1000" dirty="0"/>
          </a:p>
          <a:p>
            <a:pPr indent="0" marL="0">
              <a:buNone/>
            </a:pPr>
            <a:r>
              <a:rPr lang="en-US" sz="1000" dirty="0">
                <a:solidFill>
                  <a:srgbClr val="8FAAC3"/>
                </a:solidFill>
                <a:latin typeface="Calibri" pitchFamily="34" charset="0"/>
                <a:ea typeface="Calibri" pitchFamily="34" charset="-122"/>
                <a:cs typeface="Calibri" pitchFamily="34" charset="-120"/>
              </a:rPr>
              <a:t>sentiment analysis feature</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5943600" y="-1371600"/>
            <a:ext cx="4572000" cy="4572000"/>
          </a:xfrm>
          <a:prstGeom prst="ellipse">
            <a:avLst/>
          </a:prstGeom>
          <a:solidFill>
            <a:srgbClr val="0A2030"/>
          </a:solidFill>
          <a:ln w="12700">
            <a:solidFill>
              <a:srgbClr val="0D2A40"/>
            </a:solidFill>
            <a:prstDash val="solid"/>
          </a:ln>
        </p:spPr>
      </p:sp>
      <p:sp>
        <p:nvSpPr>
          <p:cNvPr id="3" name="Shape 1"/>
          <p:cNvSpPr/>
          <p:nvPr/>
        </p:nvSpPr>
        <p:spPr>
          <a:xfrm>
            <a:off x="0" y="0"/>
            <a:ext cx="164592" cy="5143500"/>
          </a:xfrm>
          <a:prstGeom prst="rect">
            <a:avLst/>
          </a:prstGeom>
          <a:solidFill>
            <a:srgbClr val="00C2A8"/>
          </a:solidFill>
          <a:ln w="12700">
            <a:solidFill>
              <a:srgbClr val="00C2A8"/>
            </a:solidFill>
            <a:prstDash val="solid"/>
          </a:ln>
        </p:spPr>
      </p:sp>
      <p:sp>
        <p:nvSpPr>
          <p:cNvPr id="4" name="Text 2"/>
          <p:cNvSpPr/>
          <p:nvPr/>
        </p:nvSpPr>
        <p:spPr>
          <a:xfrm>
            <a:off x="457200" y="274320"/>
            <a:ext cx="5486400" cy="411480"/>
          </a:xfrm>
          <a:prstGeom prst="rect">
            <a:avLst/>
          </a:prstGeom>
          <a:noFill/>
          <a:ln/>
        </p:spPr>
        <p:txBody>
          <a:bodyPr wrap="square" rtlCol="0" anchor="ctr"/>
          <a:lstStyle/>
          <a:p>
            <a:pPr indent="0" marL="0">
              <a:buNone/>
            </a:pPr>
            <a:r>
              <a:rPr lang="en-US" sz="1300" b="1" dirty="0">
                <a:solidFill>
                  <a:srgbClr val="00C2A8"/>
                </a:solidFill>
                <a:latin typeface="Calibri" pitchFamily="34" charset="0"/>
                <a:ea typeface="Calibri" pitchFamily="34" charset="-122"/>
                <a:cs typeface="Calibri" pitchFamily="34" charset="-120"/>
              </a:rPr>
              <a:t>PROJECT SUMMARY</a:t>
            </a:r>
            <a:endParaRPr lang="en-US" sz="1300" dirty="0"/>
          </a:p>
        </p:txBody>
      </p:sp>
      <p:sp>
        <p:nvSpPr>
          <p:cNvPr id="5" name="Text 3"/>
          <p:cNvSpPr/>
          <p:nvPr/>
        </p:nvSpPr>
        <p:spPr>
          <a:xfrm>
            <a:off x="457200" y="640080"/>
            <a:ext cx="5943600" cy="1188720"/>
          </a:xfrm>
          <a:prstGeom prst="rect">
            <a:avLst/>
          </a:prstGeom>
          <a:noFill/>
          <a:ln/>
        </p:spPr>
        <p:txBody>
          <a:bodyPr wrap="square"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AI Financial</a:t>
            </a:r>
            <a:endParaRPr lang="en-US" sz="4000" dirty="0"/>
          </a:p>
          <a:p>
            <a:pPr indent="0" marL="0">
              <a:buNone/>
            </a:pPr>
            <a:r>
              <a:rPr lang="en-US" sz="4000" b="1" dirty="0">
                <a:solidFill>
                  <a:srgbClr val="FFFFFF"/>
                </a:solidFill>
                <a:latin typeface="Calibri" pitchFamily="34" charset="0"/>
                <a:ea typeface="Calibri" pitchFamily="34" charset="-122"/>
                <a:cs typeface="Calibri" pitchFamily="34" charset="-120"/>
              </a:rPr>
              <a:t>Advisor Bot</a:t>
            </a:r>
            <a:endParaRPr lang="en-US" sz="4000" dirty="0"/>
          </a:p>
        </p:txBody>
      </p:sp>
      <p:pic>
        <p:nvPicPr>
          <p:cNvPr id="6" name="Image 0" descr="preencoded.png">    </p:cNvPr>
          <p:cNvPicPr>
            <a:picLocks noChangeAspect="1"/>
          </p:cNvPicPr>
          <p:nvPr/>
        </p:nvPicPr>
        <p:blipFill>
          <a:blip r:embed="rId1"/>
          <a:stretch>
            <a:fillRect/>
          </a:stretch>
        </p:blipFill>
        <p:spPr>
          <a:xfrm>
            <a:off x="457200" y="1965960"/>
            <a:ext cx="292608" cy="292608"/>
          </a:xfrm>
          <a:prstGeom prst="rect">
            <a:avLst/>
          </a:prstGeom>
        </p:spPr>
      </p:pic>
      <p:sp>
        <p:nvSpPr>
          <p:cNvPr id="7" name="Text 4"/>
          <p:cNvSpPr/>
          <p:nvPr/>
        </p:nvSpPr>
        <p:spPr>
          <a:xfrm>
            <a:off x="868680" y="1938528"/>
            <a:ext cx="5303520" cy="347472"/>
          </a:xfrm>
          <a:prstGeom prst="rect">
            <a:avLst/>
          </a:prstGeom>
          <a:noFill/>
          <a:ln/>
        </p:spPr>
        <p:txBody>
          <a:bodyPr wrap="square" rtlCol="0" anchor="ctr"/>
          <a:lstStyle/>
          <a:p>
            <a:pPr indent="0" marL="0">
              <a:buNone/>
            </a:pPr>
            <a:r>
              <a:rPr lang="en-US" sz="1250" dirty="0">
                <a:solidFill>
                  <a:srgbClr val="8FAAC3"/>
                </a:solidFill>
                <a:latin typeface="Calibri" pitchFamily="34" charset="0"/>
                <a:ea typeface="Calibri" pitchFamily="34" charset="-122"/>
                <a:cs typeface="Calibri" pitchFamily="34" charset="-120"/>
              </a:rPr>
              <a:t>Analyses stock market data using Machine Learning (LSTM focus)</a:t>
            </a:r>
            <a:endParaRPr lang="en-US" sz="1250" dirty="0"/>
          </a:p>
        </p:txBody>
      </p:sp>
      <p:pic>
        <p:nvPicPr>
          <p:cNvPr id="8" name="Image 1" descr="preencoded.png">    </p:cNvPr>
          <p:cNvPicPr>
            <a:picLocks noChangeAspect="1"/>
          </p:cNvPicPr>
          <p:nvPr/>
        </p:nvPicPr>
        <p:blipFill>
          <a:blip r:embed="rId2"/>
          <a:stretch>
            <a:fillRect/>
          </a:stretch>
        </p:blipFill>
        <p:spPr>
          <a:xfrm>
            <a:off x="457200" y="2514600"/>
            <a:ext cx="292608" cy="292608"/>
          </a:xfrm>
          <a:prstGeom prst="rect">
            <a:avLst/>
          </a:prstGeom>
        </p:spPr>
      </p:pic>
      <p:sp>
        <p:nvSpPr>
          <p:cNvPr id="9" name="Text 5"/>
          <p:cNvSpPr/>
          <p:nvPr/>
        </p:nvSpPr>
        <p:spPr>
          <a:xfrm>
            <a:off x="868680" y="2487168"/>
            <a:ext cx="5303520" cy="347472"/>
          </a:xfrm>
          <a:prstGeom prst="rect">
            <a:avLst/>
          </a:prstGeom>
          <a:noFill/>
          <a:ln/>
        </p:spPr>
        <p:txBody>
          <a:bodyPr wrap="square" rtlCol="0" anchor="ctr"/>
          <a:lstStyle/>
          <a:p>
            <a:pPr indent="0" marL="0">
              <a:buNone/>
            </a:pPr>
            <a:r>
              <a:rPr lang="en-US" sz="1250" dirty="0">
                <a:solidFill>
                  <a:srgbClr val="8FAAC3"/>
                </a:solidFill>
                <a:latin typeface="Calibri" pitchFamily="34" charset="0"/>
                <a:ea typeface="Calibri" pitchFamily="34" charset="-122"/>
                <a:cs typeface="Calibri" pitchFamily="34" charset="-120"/>
              </a:rPr>
              <a:t>Provides BUY/SELL recommendations with plain English explanations</a:t>
            </a:r>
            <a:endParaRPr lang="en-US" sz="1250" dirty="0"/>
          </a:p>
        </p:txBody>
      </p:sp>
      <p:pic>
        <p:nvPicPr>
          <p:cNvPr id="10" name="Image 2" descr="preencoded.png">    </p:cNvPr>
          <p:cNvPicPr>
            <a:picLocks noChangeAspect="1"/>
          </p:cNvPicPr>
          <p:nvPr/>
        </p:nvPicPr>
        <p:blipFill>
          <a:blip r:embed="rId3"/>
          <a:stretch>
            <a:fillRect/>
          </a:stretch>
        </p:blipFill>
        <p:spPr>
          <a:xfrm>
            <a:off x="457200" y="3063240"/>
            <a:ext cx="292608" cy="292608"/>
          </a:xfrm>
          <a:prstGeom prst="rect">
            <a:avLst/>
          </a:prstGeom>
        </p:spPr>
      </p:pic>
      <p:sp>
        <p:nvSpPr>
          <p:cNvPr id="11" name="Text 6"/>
          <p:cNvSpPr/>
          <p:nvPr/>
        </p:nvSpPr>
        <p:spPr>
          <a:xfrm>
            <a:off x="868680" y="3035808"/>
            <a:ext cx="5303520" cy="347472"/>
          </a:xfrm>
          <a:prstGeom prst="rect">
            <a:avLst/>
          </a:prstGeom>
          <a:noFill/>
          <a:ln/>
        </p:spPr>
        <p:txBody>
          <a:bodyPr wrap="square" rtlCol="0" anchor="ctr"/>
          <a:lstStyle/>
          <a:p>
            <a:pPr indent="0" marL="0">
              <a:buNone/>
            </a:pPr>
            <a:r>
              <a:rPr lang="en-US" sz="1250" dirty="0">
                <a:solidFill>
                  <a:srgbClr val="8FAAC3"/>
                </a:solidFill>
                <a:latin typeface="Calibri" pitchFamily="34" charset="0"/>
                <a:ea typeface="Calibri" pitchFamily="34" charset="-122"/>
                <a:cs typeface="Calibri" pitchFamily="34" charset="-120"/>
              </a:rPr>
              <a:t>Designed for non-technical first-time investors aged 18–30</a:t>
            </a:r>
            <a:endParaRPr lang="en-US" sz="1250" dirty="0"/>
          </a:p>
        </p:txBody>
      </p:sp>
      <p:pic>
        <p:nvPicPr>
          <p:cNvPr id="12" name="Image 3" descr="preencoded.png">    </p:cNvPr>
          <p:cNvPicPr>
            <a:picLocks noChangeAspect="1"/>
          </p:cNvPicPr>
          <p:nvPr/>
        </p:nvPicPr>
        <p:blipFill>
          <a:blip r:embed="rId4"/>
          <a:stretch>
            <a:fillRect/>
          </a:stretch>
        </p:blipFill>
        <p:spPr>
          <a:xfrm>
            <a:off x="457200" y="3611880"/>
            <a:ext cx="292608" cy="292608"/>
          </a:xfrm>
          <a:prstGeom prst="rect">
            <a:avLst/>
          </a:prstGeom>
        </p:spPr>
      </p:pic>
      <p:sp>
        <p:nvSpPr>
          <p:cNvPr id="13" name="Text 7"/>
          <p:cNvSpPr/>
          <p:nvPr/>
        </p:nvSpPr>
        <p:spPr>
          <a:xfrm>
            <a:off x="868680" y="3584448"/>
            <a:ext cx="5303520" cy="347472"/>
          </a:xfrm>
          <a:prstGeom prst="rect">
            <a:avLst/>
          </a:prstGeom>
          <a:noFill/>
          <a:ln/>
        </p:spPr>
        <p:txBody>
          <a:bodyPr wrap="square" rtlCol="0" anchor="ctr"/>
          <a:lstStyle/>
          <a:p>
            <a:pPr indent="0" marL="0">
              <a:buNone/>
            </a:pPr>
            <a:r>
              <a:rPr lang="en-US" sz="1250" dirty="0">
                <a:solidFill>
                  <a:srgbClr val="8FAAC3"/>
                </a:solidFill>
                <a:latin typeface="Calibri" pitchFamily="34" charset="0"/>
                <a:ea typeface="Calibri" pitchFamily="34" charset="-122"/>
                <a:cs typeface="Calibri" pitchFamily="34" charset="-120"/>
              </a:rPr>
              <a:t>Delivered via a clean Flask web application</a:t>
            </a:r>
            <a:endParaRPr lang="en-US" sz="1250" dirty="0"/>
          </a:p>
        </p:txBody>
      </p:sp>
      <p:pic>
        <p:nvPicPr>
          <p:cNvPr id="14" name="Image 4" descr="preencoded.png">    </p:cNvPr>
          <p:cNvPicPr>
            <a:picLocks noChangeAspect="1"/>
          </p:cNvPicPr>
          <p:nvPr/>
        </p:nvPicPr>
        <p:blipFill>
          <a:blip r:embed="rId5"/>
          <a:stretch>
            <a:fillRect/>
          </a:stretch>
        </p:blipFill>
        <p:spPr>
          <a:xfrm>
            <a:off x="457200" y="4160520"/>
            <a:ext cx="292608" cy="292608"/>
          </a:xfrm>
          <a:prstGeom prst="rect">
            <a:avLst/>
          </a:prstGeom>
        </p:spPr>
      </p:pic>
      <p:sp>
        <p:nvSpPr>
          <p:cNvPr id="15" name="Text 8"/>
          <p:cNvSpPr/>
          <p:nvPr/>
        </p:nvSpPr>
        <p:spPr>
          <a:xfrm>
            <a:off x="868680" y="4133088"/>
            <a:ext cx="5303520" cy="347472"/>
          </a:xfrm>
          <a:prstGeom prst="rect">
            <a:avLst/>
          </a:prstGeom>
          <a:noFill/>
          <a:ln/>
        </p:spPr>
        <p:txBody>
          <a:bodyPr wrap="square" rtlCol="0" anchor="ctr"/>
          <a:lstStyle/>
          <a:p>
            <a:pPr indent="0" marL="0">
              <a:buNone/>
            </a:pPr>
            <a:r>
              <a:rPr lang="en-US" sz="1250" dirty="0">
                <a:solidFill>
                  <a:srgbClr val="8FAAC3"/>
                </a:solidFill>
                <a:latin typeface="Calibri" pitchFamily="34" charset="0"/>
                <a:ea typeface="Calibri" pitchFamily="34" charset="-122"/>
                <a:cs typeface="Calibri" pitchFamily="34" charset="-120"/>
              </a:rPr>
              <a:t>Includes backtesting, SHAP explainability &amp; ethical disclaimers</a:t>
            </a:r>
            <a:endParaRPr lang="en-US" sz="1250" dirty="0"/>
          </a:p>
        </p:txBody>
      </p:sp>
      <p:sp>
        <p:nvSpPr>
          <p:cNvPr id="16" name="Shape 9"/>
          <p:cNvSpPr/>
          <p:nvPr/>
        </p:nvSpPr>
        <p:spPr>
          <a:xfrm>
            <a:off x="6400800" y="914400"/>
            <a:ext cx="2468880" cy="3566160"/>
          </a:xfrm>
          <a:prstGeom prst="rect">
            <a:avLst/>
          </a:prstGeom>
          <a:solidFill>
            <a:srgbClr val="112240"/>
          </a:solidFill>
          <a:ln w="19050">
            <a:solidFill>
              <a:srgbClr val="00C2A8"/>
            </a:solidFill>
            <a:prstDash val="solid"/>
          </a:ln>
        </p:spPr>
      </p:sp>
      <p:sp>
        <p:nvSpPr>
          <p:cNvPr id="17" name="Shape 10"/>
          <p:cNvSpPr/>
          <p:nvPr/>
        </p:nvSpPr>
        <p:spPr>
          <a:xfrm>
            <a:off x="6400800" y="914400"/>
            <a:ext cx="2468880" cy="45720"/>
          </a:xfrm>
          <a:prstGeom prst="rect">
            <a:avLst/>
          </a:prstGeom>
          <a:solidFill>
            <a:srgbClr val="00C2A8"/>
          </a:solidFill>
          <a:ln w="12700">
            <a:solidFill>
              <a:srgbClr val="00C2A8"/>
            </a:solidFill>
            <a:prstDash val="solid"/>
          </a:ln>
        </p:spPr>
      </p:sp>
      <p:pic>
        <p:nvPicPr>
          <p:cNvPr id="18" name="Image 5" descr="preencoded.png">    </p:cNvPr>
          <p:cNvPicPr>
            <a:picLocks noChangeAspect="1"/>
          </p:cNvPicPr>
          <p:nvPr/>
        </p:nvPicPr>
        <p:blipFill>
          <a:blip r:embed="rId6"/>
          <a:stretch>
            <a:fillRect/>
          </a:stretch>
        </p:blipFill>
        <p:spPr>
          <a:xfrm>
            <a:off x="7178040" y="1005840"/>
            <a:ext cx="914400" cy="914400"/>
          </a:xfrm>
          <a:prstGeom prst="rect">
            <a:avLst/>
          </a:prstGeom>
        </p:spPr>
      </p:pic>
      <p:sp>
        <p:nvSpPr>
          <p:cNvPr id="19" name="Text 11"/>
          <p:cNvSpPr/>
          <p:nvPr/>
        </p:nvSpPr>
        <p:spPr>
          <a:xfrm>
            <a:off x="6510528" y="2011680"/>
            <a:ext cx="914400" cy="320040"/>
          </a:xfrm>
          <a:prstGeom prst="rect">
            <a:avLst/>
          </a:prstGeom>
          <a:noFill/>
          <a:ln/>
        </p:spPr>
        <p:txBody>
          <a:bodyPr wrap="square" rtlCol="0" anchor="ctr"/>
          <a:lstStyle/>
          <a:p>
            <a:pPr indent="0" marL="0">
              <a:buNone/>
            </a:pPr>
            <a:r>
              <a:rPr lang="en-US" sz="950" b="1" dirty="0">
                <a:solidFill>
                  <a:srgbClr val="8FAAC3"/>
                </a:solidFill>
                <a:latin typeface="Calibri" pitchFamily="34" charset="0"/>
                <a:ea typeface="Calibri" pitchFamily="34" charset="-122"/>
                <a:cs typeface="Calibri" pitchFamily="34" charset="-120"/>
              </a:rPr>
              <a:t>Module:</a:t>
            </a:r>
            <a:endParaRPr lang="en-US" sz="950" dirty="0"/>
          </a:p>
        </p:txBody>
      </p:sp>
      <p:sp>
        <p:nvSpPr>
          <p:cNvPr id="20" name="Text 12"/>
          <p:cNvSpPr/>
          <p:nvPr/>
        </p:nvSpPr>
        <p:spPr>
          <a:xfrm>
            <a:off x="7452360" y="2011680"/>
            <a:ext cx="1325880" cy="320040"/>
          </a:xfrm>
          <a:prstGeom prst="rect">
            <a:avLst/>
          </a:prstGeom>
          <a:noFill/>
          <a:ln/>
        </p:spPr>
        <p:txBody>
          <a:bodyPr wrap="square" rtlCol="0" anchor="ctr"/>
          <a:lstStyle/>
          <a:p>
            <a:pPr indent="0" marL="0">
              <a:buNone/>
            </a:pPr>
            <a:r>
              <a:rPr lang="en-US" sz="950" dirty="0">
                <a:solidFill>
                  <a:srgbClr val="00C2A8"/>
                </a:solidFill>
                <a:latin typeface="Calibri" pitchFamily="34" charset="0"/>
                <a:ea typeface="Calibri" pitchFamily="34" charset="-122"/>
                <a:cs typeface="Calibri" pitchFamily="34" charset="-120"/>
              </a:rPr>
              <a:t>CM3020 AI</a:t>
            </a:r>
            <a:endParaRPr lang="en-US" sz="950" dirty="0"/>
          </a:p>
        </p:txBody>
      </p:sp>
      <p:sp>
        <p:nvSpPr>
          <p:cNvPr id="21" name="Text 13"/>
          <p:cNvSpPr/>
          <p:nvPr/>
        </p:nvSpPr>
        <p:spPr>
          <a:xfrm>
            <a:off x="6510528" y="2395728"/>
            <a:ext cx="914400" cy="320040"/>
          </a:xfrm>
          <a:prstGeom prst="rect">
            <a:avLst/>
          </a:prstGeom>
          <a:noFill/>
          <a:ln/>
        </p:spPr>
        <p:txBody>
          <a:bodyPr wrap="square" rtlCol="0" anchor="ctr"/>
          <a:lstStyle/>
          <a:p>
            <a:pPr indent="0" marL="0">
              <a:buNone/>
            </a:pPr>
            <a:r>
              <a:rPr lang="en-US" sz="950" b="1" dirty="0">
                <a:solidFill>
                  <a:srgbClr val="8FAAC3"/>
                </a:solidFill>
                <a:latin typeface="Calibri" pitchFamily="34" charset="0"/>
                <a:ea typeface="Calibri" pitchFamily="34" charset="-122"/>
                <a:cs typeface="Calibri" pitchFamily="34" charset="-120"/>
              </a:rPr>
              <a:t>Project:</a:t>
            </a:r>
            <a:endParaRPr lang="en-US" sz="950" dirty="0"/>
          </a:p>
        </p:txBody>
      </p:sp>
      <p:sp>
        <p:nvSpPr>
          <p:cNvPr id="22" name="Text 14"/>
          <p:cNvSpPr/>
          <p:nvPr/>
        </p:nvSpPr>
        <p:spPr>
          <a:xfrm>
            <a:off x="7452360" y="2395728"/>
            <a:ext cx="1325880" cy="320040"/>
          </a:xfrm>
          <a:prstGeom prst="rect">
            <a:avLst/>
          </a:prstGeom>
          <a:noFill/>
          <a:ln/>
        </p:spPr>
        <p:txBody>
          <a:bodyPr wrap="square" rtlCol="0" anchor="ctr"/>
          <a:lstStyle/>
          <a:p>
            <a:pPr indent="0" marL="0">
              <a:buNone/>
            </a:pPr>
            <a:r>
              <a:rPr lang="en-US" sz="950" dirty="0">
                <a:solidFill>
                  <a:srgbClr val="00C2A8"/>
                </a:solidFill>
                <a:latin typeface="Calibri" pitchFamily="34" charset="0"/>
                <a:ea typeface="Calibri" pitchFamily="34" charset="-122"/>
                <a:cs typeface="Calibri" pitchFamily="34" charset="-120"/>
              </a:rPr>
              <a:t>Idea 2</a:t>
            </a:r>
            <a:endParaRPr lang="en-US" sz="950" dirty="0"/>
          </a:p>
        </p:txBody>
      </p:sp>
      <p:sp>
        <p:nvSpPr>
          <p:cNvPr id="23" name="Text 15"/>
          <p:cNvSpPr/>
          <p:nvPr/>
        </p:nvSpPr>
        <p:spPr>
          <a:xfrm>
            <a:off x="6510528" y="2779776"/>
            <a:ext cx="914400" cy="320040"/>
          </a:xfrm>
          <a:prstGeom prst="rect">
            <a:avLst/>
          </a:prstGeom>
          <a:noFill/>
          <a:ln/>
        </p:spPr>
        <p:txBody>
          <a:bodyPr wrap="square" rtlCol="0" anchor="ctr"/>
          <a:lstStyle/>
          <a:p>
            <a:pPr indent="0" marL="0">
              <a:buNone/>
            </a:pPr>
            <a:r>
              <a:rPr lang="en-US" sz="950" b="1" dirty="0">
                <a:solidFill>
                  <a:srgbClr val="8FAAC3"/>
                </a:solidFill>
                <a:latin typeface="Calibri" pitchFamily="34" charset="0"/>
                <a:ea typeface="Calibri" pitchFamily="34" charset="-122"/>
                <a:cs typeface="Calibri" pitchFamily="34" charset="-120"/>
              </a:rPr>
              <a:t>Core Model:</a:t>
            </a:r>
            <a:endParaRPr lang="en-US" sz="950" dirty="0"/>
          </a:p>
        </p:txBody>
      </p:sp>
      <p:sp>
        <p:nvSpPr>
          <p:cNvPr id="24" name="Text 16"/>
          <p:cNvSpPr/>
          <p:nvPr/>
        </p:nvSpPr>
        <p:spPr>
          <a:xfrm>
            <a:off x="7452360" y="2779776"/>
            <a:ext cx="1325880" cy="320040"/>
          </a:xfrm>
          <a:prstGeom prst="rect">
            <a:avLst/>
          </a:prstGeom>
          <a:noFill/>
          <a:ln/>
        </p:spPr>
        <p:txBody>
          <a:bodyPr wrap="square" rtlCol="0" anchor="ctr"/>
          <a:lstStyle/>
          <a:p>
            <a:pPr indent="0" marL="0">
              <a:buNone/>
            </a:pPr>
            <a:r>
              <a:rPr lang="en-US" sz="950" dirty="0">
                <a:solidFill>
                  <a:srgbClr val="00C2A8"/>
                </a:solidFill>
                <a:latin typeface="Calibri" pitchFamily="34" charset="0"/>
                <a:ea typeface="Calibri" pitchFamily="34" charset="-122"/>
                <a:cs typeface="Calibri" pitchFamily="34" charset="-120"/>
              </a:rPr>
              <a:t>LSTM</a:t>
            </a:r>
            <a:endParaRPr lang="en-US" sz="950" dirty="0"/>
          </a:p>
        </p:txBody>
      </p:sp>
      <p:sp>
        <p:nvSpPr>
          <p:cNvPr id="25" name="Text 17"/>
          <p:cNvSpPr/>
          <p:nvPr/>
        </p:nvSpPr>
        <p:spPr>
          <a:xfrm>
            <a:off x="6510528" y="3163824"/>
            <a:ext cx="914400" cy="320040"/>
          </a:xfrm>
          <a:prstGeom prst="rect">
            <a:avLst/>
          </a:prstGeom>
          <a:noFill/>
          <a:ln/>
        </p:spPr>
        <p:txBody>
          <a:bodyPr wrap="square" rtlCol="0" anchor="ctr"/>
          <a:lstStyle/>
          <a:p>
            <a:pPr indent="0" marL="0">
              <a:buNone/>
            </a:pPr>
            <a:r>
              <a:rPr lang="en-US" sz="950" b="1" dirty="0">
                <a:solidFill>
                  <a:srgbClr val="8FAAC3"/>
                </a:solidFill>
                <a:latin typeface="Calibri" pitchFamily="34" charset="0"/>
                <a:ea typeface="Calibri" pitchFamily="34" charset="-122"/>
                <a:cs typeface="Calibri" pitchFamily="34" charset="-120"/>
              </a:rPr>
              <a:t>Baseline:</a:t>
            </a:r>
            <a:endParaRPr lang="en-US" sz="950" dirty="0"/>
          </a:p>
        </p:txBody>
      </p:sp>
      <p:sp>
        <p:nvSpPr>
          <p:cNvPr id="26" name="Text 18"/>
          <p:cNvSpPr/>
          <p:nvPr/>
        </p:nvSpPr>
        <p:spPr>
          <a:xfrm>
            <a:off x="7452360" y="3163824"/>
            <a:ext cx="1325880" cy="320040"/>
          </a:xfrm>
          <a:prstGeom prst="rect">
            <a:avLst/>
          </a:prstGeom>
          <a:noFill/>
          <a:ln/>
        </p:spPr>
        <p:txBody>
          <a:bodyPr wrap="square" rtlCol="0" anchor="ctr"/>
          <a:lstStyle/>
          <a:p>
            <a:pPr indent="0" marL="0">
              <a:buNone/>
            </a:pPr>
            <a:r>
              <a:rPr lang="en-US" sz="950" dirty="0">
                <a:solidFill>
                  <a:srgbClr val="00C2A8"/>
                </a:solidFill>
                <a:latin typeface="Calibri" pitchFamily="34" charset="0"/>
                <a:ea typeface="Calibri" pitchFamily="34" charset="-122"/>
                <a:cs typeface="Calibri" pitchFamily="34" charset="-120"/>
              </a:rPr>
              <a:t>Random Forest</a:t>
            </a:r>
            <a:endParaRPr lang="en-US" sz="950" dirty="0"/>
          </a:p>
        </p:txBody>
      </p:sp>
      <p:sp>
        <p:nvSpPr>
          <p:cNvPr id="27" name="Text 19"/>
          <p:cNvSpPr/>
          <p:nvPr/>
        </p:nvSpPr>
        <p:spPr>
          <a:xfrm>
            <a:off x="6510528" y="3547872"/>
            <a:ext cx="914400" cy="320040"/>
          </a:xfrm>
          <a:prstGeom prst="rect">
            <a:avLst/>
          </a:prstGeom>
          <a:noFill/>
          <a:ln/>
        </p:spPr>
        <p:txBody>
          <a:bodyPr wrap="square" rtlCol="0" anchor="ctr"/>
          <a:lstStyle/>
          <a:p>
            <a:pPr indent="0" marL="0">
              <a:buNone/>
            </a:pPr>
            <a:r>
              <a:rPr lang="en-US" sz="950" b="1" dirty="0">
                <a:solidFill>
                  <a:srgbClr val="8FAAC3"/>
                </a:solidFill>
                <a:latin typeface="Calibri" pitchFamily="34" charset="0"/>
                <a:ea typeface="Calibri" pitchFamily="34" charset="-122"/>
                <a:cs typeface="Calibri" pitchFamily="34" charset="-120"/>
              </a:rPr>
              <a:t>Stack:</a:t>
            </a:r>
            <a:endParaRPr lang="en-US" sz="950" dirty="0"/>
          </a:p>
        </p:txBody>
      </p:sp>
      <p:sp>
        <p:nvSpPr>
          <p:cNvPr id="28" name="Text 20"/>
          <p:cNvSpPr/>
          <p:nvPr/>
        </p:nvSpPr>
        <p:spPr>
          <a:xfrm>
            <a:off x="7452360" y="3547872"/>
            <a:ext cx="1325880" cy="320040"/>
          </a:xfrm>
          <a:prstGeom prst="rect">
            <a:avLst/>
          </a:prstGeom>
          <a:noFill/>
          <a:ln/>
        </p:spPr>
        <p:txBody>
          <a:bodyPr wrap="square" rtlCol="0" anchor="ctr"/>
          <a:lstStyle/>
          <a:p>
            <a:pPr indent="0" marL="0">
              <a:buNone/>
            </a:pPr>
            <a:r>
              <a:rPr lang="en-US" sz="950" dirty="0">
                <a:solidFill>
                  <a:srgbClr val="00C2A8"/>
                </a:solidFill>
                <a:latin typeface="Calibri" pitchFamily="34" charset="0"/>
                <a:ea typeface="Calibri" pitchFamily="34" charset="-122"/>
                <a:cs typeface="Calibri" pitchFamily="34" charset="-120"/>
              </a:rPr>
              <a:t>Python / Flask</a:t>
            </a:r>
            <a:endParaRPr lang="en-US" sz="950" dirty="0"/>
          </a:p>
        </p:txBody>
      </p:sp>
      <p:sp>
        <p:nvSpPr>
          <p:cNvPr id="29" name="Text 21"/>
          <p:cNvSpPr/>
          <p:nvPr/>
        </p:nvSpPr>
        <p:spPr>
          <a:xfrm>
            <a:off x="6510528" y="3931920"/>
            <a:ext cx="914400" cy="320040"/>
          </a:xfrm>
          <a:prstGeom prst="rect">
            <a:avLst/>
          </a:prstGeom>
          <a:noFill/>
          <a:ln/>
        </p:spPr>
        <p:txBody>
          <a:bodyPr wrap="square" rtlCol="0" anchor="ctr"/>
          <a:lstStyle/>
          <a:p>
            <a:pPr indent="0" marL="0">
              <a:buNone/>
            </a:pPr>
            <a:r>
              <a:rPr lang="en-US" sz="950" b="1" dirty="0">
                <a:solidFill>
                  <a:srgbClr val="8FAAC3"/>
                </a:solidFill>
                <a:latin typeface="Calibri" pitchFamily="34" charset="0"/>
                <a:ea typeface="Calibri" pitchFamily="34" charset="-122"/>
                <a:cs typeface="Calibri" pitchFamily="34" charset="-120"/>
              </a:rPr>
              <a:t>Programme:</a:t>
            </a:r>
            <a:endParaRPr lang="en-US" sz="950" dirty="0"/>
          </a:p>
        </p:txBody>
      </p:sp>
      <p:sp>
        <p:nvSpPr>
          <p:cNvPr id="30" name="Text 22"/>
          <p:cNvSpPr/>
          <p:nvPr/>
        </p:nvSpPr>
        <p:spPr>
          <a:xfrm>
            <a:off x="7452360" y="3931920"/>
            <a:ext cx="1325880" cy="320040"/>
          </a:xfrm>
          <a:prstGeom prst="rect">
            <a:avLst/>
          </a:prstGeom>
          <a:noFill/>
          <a:ln/>
        </p:spPr>
        <p:txBody>
          <a:bodyPr wrap="square" rtlCol="0" anchor="ctr"/>
          <a:lstStyle/>
          <a:p>
            <a:pPr indent="0" marL="0">
              <a:buNone/>
            </a:pPr>
            <a:r>
              <a:rPr lang="en-US" sz="950" dirty="0">
                <a:solidFill>
                  <a:srgbClr val="00C2A8"/>
                </a:solidFill>
                <a:latin typeface="Calibri" pitchFamily="34" charset="0"/>
                <a:ea typeface="Calibri" pitchFamily="34" charset="-122"/>
                <a:cs typeface="Calibri" pitchFamily="34" charset="-120"/>
              </a:rPr>
              <a:t>BSc CS</a:t>
            </a:r>
            <a:endParaRPr lang="en-US" sz="950" dirty="0"/>
          </a:p>
        </p:txBody>
      </p:sp>
      <p:sp>
        <p:nvSpPr>
          <p:cNvPr id="31" name="Shape 23"/>
          <p:cNvSpPr/>
          <p:nvPr/>
        </p:nvSpPr>
        <p:spPr>
          <a:xfrm>
            <a:off x="320040" y="4663440"/>
            <a:ext cx="8503920" cy="320040"/>
          </a:xfrm>
          <a:prstGeom prst="rect">
            <a:avLst/>
          </a:prstGeom>
          <a:solidFill>
            <a:srgbClr val="00C2A8"/>
          </a:solidFill>
          <a:ln w="12700">
            <a:solidFill>
              <a:srgbClr val="00C2A8"/>
            </a:solidFill>
            <a:prstDash val="solid"/>
          </a:ln>
        </p:spPr>
      </p:sp>
      <p:sp>
        <p:nvSpPr>
          <p:cNvPr id="32" name="Text 24"/>
          <p:cNvSpPr/>
          <p:nvPr/>
        </p:nvSpPr>
        <p:spPr>
          <a:xfrm>
            <a:off x="320040" y="4663440"/>
            <a:ext cx="8503920" cy="320040"/>
          </a:xfrm>
          <a:prstGeom prst="rect">
            <a:avLst/>
          </a:prstGeom>
          <a:noFill/>
          <a:ln/>
        </p:spPr>
        <p:txBody>
          <a:bodyPr wrap="square" lIns="0" tIns="0" rIns="0" bIns="0" rtlCol="0" anchor="ctr"/>
          <a:lstStyle/>
          <a:p>
            <a:pPr algn="ctr" indent="0" marL="0">
              <a:buNone/>
            </a:pPr>
            <a:r>
              <a:rPr lang="en-US" sz="1200" b="1" dirty="0">
                <a:solidFill>
                  <a:srgbClr val="0A1628"/>
                </a:solidFill>
                <a:latin typeface="Calibri" pitchFamily="34" charset="0"/>
                <a:ea typeface="Calibri" pitchFamily="34" charset="-122"/>
                <a:cs typeface="Calibri" pitchFamily="34" charset="-120"/>
              </a:rPr>
              <a:t>Transparent  •  Accessible  •  Data-Driven  •  Educational</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Financial Advisor Bot - CM3070 Proposal</dc:title>
  <dc:subject>PptxGenJS Presentation</dc:subject>
  <dc:creator>PptxGenJS</dc:creator>
  <cp:lastModifiedBy>PptxGenJS</cp:lastModifiedBy>
  <cp:revision>1</cp:revision>
  <dcterms:created xsi:type="dcterms:W3CDTF">2026-05-13T11:43:54Z</dcterms:created>
  <dcterms:modified xsi:type="dcterms:W3CDTF">2026-05-13T11:43:54Z</dcterms:modified>
</cp:coreProperties>
</file>